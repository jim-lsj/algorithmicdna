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y="5143500" cx="9144000"/>
  <p:notesSz cx="6858000" cy="9144000"/>
  <p:embeddedFontLst>
    <p:embeddedFont>
      <p:font typeface="Nunito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Nunito-bold.fntdata"/><Relationship Id="rId94" Type="http://schemas.openxmlformats.org/officeDocument/2006/relationships/font" Target="fonts/Nunito-regular.fntdata"/><Relationship Id="rId97" Type="http://schemas.openxmlformats.org/officeDocument/2006/relationships/font" Target="fonts/Nunito-boldItalic.fntdata"/><Relationship Id="rId96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05717ca2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05717ca2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1095957b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1095957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05717ca2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05717ca2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e4ba441e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e4ba441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1095957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1095957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177e731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177e731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01023da2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01023da2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01023da2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01023da2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01023da2f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01023da2f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05717ca2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05717ca2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01023da2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01023da2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01023da2f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01023da2f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01023da2f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01023da2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01023da2f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01023da2f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01023da2f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01023da2f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05717ca2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05717ca2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5c65224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5c65224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ce60d839cf4e3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ce60d839cf4e3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ce60d839cf4e3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ce60d839cf4e3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ce60d839cf4e3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ce60d839cf4e3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01023da2f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01023da2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1095957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1095957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01023da2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401023da2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01023da2f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01023da2f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01023da2f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01023da2f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01023da2f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401023da2f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01023da2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401023da2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401023da2f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401023da2f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01023da2f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401023da2f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401023da2f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401023da2f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01023da2f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01023da2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401023da2f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401023da2f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401023da2f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401023da2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401023da2f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401023da2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01023da2f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401023da2f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01023da2f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401023da2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ce60d839cf4e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7ce60d839cf4e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05717ca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405717ca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05717ca2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05717ca2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ce60d839cf4e3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ce60d839cf4e3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401023da2f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401023da2f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401023da2f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401023da2f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01023da2f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01023da2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401023da2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401023da2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401023da2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401023da2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401023da2f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401023da2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401023da2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401023da2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401023da2f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401023da2f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01023da2f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401023da2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401023da2f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401023da2f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01023da2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01023da2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01023da2f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01023da2f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401023da2f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401023da2f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401023da2f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401023da2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401023da2f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401023da2f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401023da2f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401023da2f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401023da2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401023da2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401023da2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401023da2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401023da2f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401023da2f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401023da2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401023da2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01023da2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01023da2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401023da2f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401023da2f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401023da2f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401023da2f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401023da2f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401023da2f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401023da2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401023da2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401023da2f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401023da2f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405717ca2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405717ca2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405717ca2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405717ca2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405717ca2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405717ca2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401023da2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401023da2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405717ca2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405717ca2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401023da2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401023da2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401023da2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401023da2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401023da2f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401023da2f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401023da2f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401023da2f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401023da2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401023da2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405717ca2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405717ca2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405717ca2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405717ca2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405717ca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405717ca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401023da2f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401023da2f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401023da2f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401023da2f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405717ca2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405717ca2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405717ca2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405717ca2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7ce60d839cf4e3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7ce60d839cf4e3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7ce60d839cf4e3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7ce60d839cf4e3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7ce60d839cf4e3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7ce60d839cf4e3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7ce60d839cf4e3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7ce60d839cf4e3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eetcode.com/discuss/post/6185127/2024-google-interview-questions-compilat-mjrf/" TargetMode="Externa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hyperlink" Target="https://leetcode.com/discuss/post/6678140/google-l3-optional-coding-assessment-202-st0z/" TargetMode="External"/><Relationship Id="rId22" Type="http://schemas.openxmlformats.org/officeDocument/2006/relationships/hyperlink" Target="https://leetcode.com/discuss/post/6678140/google-l3-optional-coding-assessment-202-st0z/" TargetMode="External"/><Relationship Id="rId21" Type="http://schemas.openxmlformats.org/officeDocument/2006/relationships/hyperlink" Target="https://leetcode.com/discuss/post/6678140/google-l3-optional-coding-assessment-202-st0z/" TargetMode="External"/><Relationship Id="rId24" Type="http://schemas.openxmlformats.org/officeDocument/2006/relationships/hyperlink" Target="https://leetcode.com/discuss/post/6676167/google-l4-phone-screening-april-2025-by-e325f/" TargetMode="External"/><Relationship Id="rId23" Type="http://schemas.openxmlformats.org/officeDocument/2006/relationships/hyperlink" Target="https://leetcode.com/discuss/post/6676870/google-l4-onsite-1-by-anonymous_user-ehu5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eetcode.com/discuss/post/6636134/google-tps-could-only-come-up-brute-forc-sd5j/" TargetMode="External"/><Relationship Id="rId4" Type="http://schemas.openxmlformats.org/officeDocument/2006/relationships/hyperlink" Target="https://leetcode.com/discuss/post/6633777/google-l4-phone-screen-by-anonymous_user-gh1z/" TargetMode="External"/><Relationship Id="rId9" Type="http://schemas.openxmlformats.org/officeDocument/2006/relationships/hyperlink" Target="https://leetcode.com/discuss/post/6629122/screening-round-with-google-by-anonymous-im7k/" TargetMode="External"/><Relationship Id="rId26" Type="http://schemas.openxmlformats.org/officeDocument/2006/relationships/hyperlink" Target="https://leetcode.com/discuss/post/6676008/google-swe-phone-screening-rejected-by-a-bl7s/" TargetMode="External"/><Relationship Id="rId25" Type="http://schemas.openxmlformats.org/officeDocument/2006/relationships/hyperlink" Target="https://leetcode.com/discuss/post/6676028/google-l4-phone-screening-april-2025-by-dp8zr/" TargetMode="External"/><Relationship Id="rId27" Type="http://schemas.openxmlformats.org/officeDocument/2006/relationships/hyperlink" Target="https://leetcode.com/discuss/post/6672500/google-mock-test-by-anonymous_user-hed8/" TargetMode="External"/><Relationship Id="rId5" Type="http://schemas.openxmlformats.org/officeDocument/2006/relationships/hyperlink" Target="https://leetcode.com/discuss/post/6633452/google-phone-screen-by-anonymous_user-4dud/" TargetMode="External"/><Relationship Id="rId6" Type="http://schemas.openxmlformats.org/officeDocument/2006/relationships/hyperlink" Target="https://leetcode.com/discuss/post/6633090/google-phone-screen-by-anonymous_user-87p7/" TargetMode="External"/><Relationship Id="rId7" Type="http://schemas.openxmlformats.org/officeDocument/2006/relationships/hyperlink" Target="https://leetcode.com/discuss/post/6631018/google-l4-swe3-by-anonymous_user-qyud/" TargetMode="External"/><Relationship Id="rId8" Type="http://schemas.openxmlformats.org/officeDocument/2006/relationships/hyperlink" Target="https://leetcode.com/discuss/post/6630660/google-l5-round-2-by-anonymous_user-swe2/" TargetMode="External"/><Relationship Id="rId11" Type="http://schemas.openxmlformats.org/officeDocument/2006/relationships/hyperlink" Target="https://leetcode.com/discuss/post/6626915/google-phone-screen-l4-change-recruiter-ogkke/" TargetMode="External"/><Relationship Id="rId10" Type="http://schemas.openxmlformats.org/officeDocument/2006/relationships/hyperlink" Target="https://leetcode.com/discuss/post/6628533/google-phone-screen-interview-round-by-a-gxhk/" TargetMode="External"/><Relationship Id="rId13" Type="http://schemas.openxmlformats.org/officeDocument/2006/relationships/hyperlink" Target="https://leetcode.com/discuss/post/6626514/google-l3-tpsmarch-by-bhima2001-x7jv/" TargetMode="External"/><Relationship Id="rId12" Type="http://schemas.openxmlformats.org/officeDocument/2006/relationships/hyperlink" Target="https://leetcode.com/discuss/post/6626770/google-l4-telephone-screen-by-anonymous_-rkx9/" TargetMode="External"/><Relationship Id="rId15" Type="http://schemas.openxmlformats.org/officeDocument/2006/relationships/hyperlink" Target="https://leetcode.com/discuss/post/6623144/google-phone-screening-round-sde-3-by-an-mz3l/" TargetMode="External"/><Relationship Id="rId14" Type="http://schemas.openxmlformats.org/officeDocument/2006/relationships/hyperlink" Target="https://leetcode.com/discuss/post/6616428/google-l5-round-1-india-by-anonymous_use-qgdd/" TargetMode="External"/><Relationship Id="rId17" Type="http://schemas.openxmlformats.org/officeDocument/2006/relationships/hyperlink" Target="https://leetcode.com/discuss/post/6622332/google-oa-question-3032025-onsite-interv-iiu8/" TargetMode="External"/><Relationship Id="rId16" Type="http://schemas.openxmlformats.org/officeDocument/2006/relationships/hyperlink" Target="https://leetcode.com/discuss/post/6623008/google-l3-interview-experience-by-anonym-ybia/" TargetMode="External"/><Relationship Id="rId19" Type="http://schemas.openxmlformats.org/officeDocument/2006/relationships/hyperlink" Target="https://leetcode.com/discuss/post/6617221/google-l3-interview-experience-by-anonym-nt48/" TargetMode="External"/><Relationship Id="rId18" Type="http://schemas.openxmlformats.org/officeDocument/2006/relationships/hyperlink" Target="https://leetcode.com/discuss/post/6618127/google-interview-experience-fresher-swe-tgyxx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eetcode.com/discuss/post/6671267/google-onsite-l4-by-anonymous_user-fggd/" TargetMode="External"/><Relationship Id="rId4" Type="http://schemas.openxmlformats.org/officeDocument/2006/relationships/hyperlink" Target="https://leetcode.com/discuss/post/6670944/google-phone-screen-l3-verdict-passed-by-wl7a/" TargetMode="External"/><Relationship Id="rId9" Type="http://schemas.openxmlformats.org/officeDocument/2006/relationships/hyperlink" Target="https://leetcode.com/discuss/post/6685598/google-l4-1st-onsite-round-by-anonymous_-jw3q/" TargetMode="External"/><Relationship Id="rId5" Type="http://schemas.openxmlformats.org/officeDocument/2006/relationships/hyperlink" Target="https://leetcode.com/discuss/post/6670584/google-onsite-l3-by-anonymous_user-c3w9/" TargetMode="External"/><Relationship Id="rId6" Type="http://schemas.openxmlformats.org/officeDocument/2006/relationships/hyperlink" Target="https://leetcode.com/discuss/post/6669726/google-l3-interview-experience-by-anonym-5kfz/" TargetMode="External"/><Relationship Id="rId7" Type="http://schemas.openxmlformats.org/officeDocument/2006/relationships/hyperlink" Target="https://leetcode.com/discuss/post/6663236/google-phone-screen-round-by-anonymous_u-prem/" TargetMode="External"/><Relationship Id="rId8" Type="http://schemas.openxmlformats.org/officeDocument/2006/relationships/hyperlink" Target="https://leetcode.com/discuss/post/6659499/google-onsite-round-2-by-anonymous_user-u340/" TargetMode="External"/><Relationship Id="rId11" Type="http://schemas.openxmlformats.org/officeDocument/2006/relationships/hyperlink" Target="https://leetcode.com/discuss/post/6683848/google-onsite-round-1-by-anonymous_user-rj6b/" TargetMode="External"/><Relationship Id="rId10" Type="http://schemas.openxmlformats.org/officeDocument/2006/relationships/hyperlink" Target="https://leetcode.com/discuss/post/6684774/google-l4-interview-experience-usa-by-an-bre1/" TargetMode="External"/><Relationship Id="rId12" Type="http://schemas.openxmlformats.org/officeDocument/2006/relationships/hyperlink" Target="https://leetcode.com/discuss/post/6683794/google-interview-onsite-by-anonymous_use-kb7l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eetcode.com/discuss/post/6701617/google-onsite-interview-experience-mar-2-h182/" TargetMode="External"/><Relationship Id="rId4" Type="http://schemas.openxmlformats.org/officeDocument/2006/relationships/hyperlink" Target="https://leetcode.com/discuss/post/6701549/google-l4-interview-experience-by-anonym-izsb/" TargetMode="External"/><Relationship Id="rId9" Type="http://schemas.openxmlformats.org/officeDocument/2006/relationships/hyperlink" Target="https://leetcode.com/discuss/post/6698775/google-oa-question-by-anonymous_user-6y0k/" TargetMode="External"/><Relationship Id="rId5" Type="http://schemas.openxmlformats.org/officeDocument/2006/relationships/hyperlink" Target="https://leetcode.com/discuss/post/6701519/google-l4-interview-by-anonymous_user-kmeq/" TargetMode="External"/><Relationship Id="rId6" Type="http://schemas.openxmlformats.org/officeDocument/2006/relationships/hyperlink" Target="https://leetcode.com/discuss/post/6701291/help-google-onsite-interviews-l3-by-anon-5ycm/" TargetMode="External"/><Relationship Id="rId7" Type="http://schemas.openxmlformats.org/officeDocument/2006/relationships/hyperlink" Target="https://leetcode.com/discuss/post/6701285/google-screen-round-l4-swe-by-anonymous_-snp5/" TargetMode="External"/><Relationship Id="rId8" Type="http://schemas.openxmlformats.org/officeDocument/2006/relationships/hyperlink" Target="https://leetcode.com/discuss/post/6698886/google-onsite-round-1-question-by-anonym-ra0i/" TargetMode="External"/><Relationship Id="rId11" Type="http://schemas.openxmlformats.org/officeDocument/2006/relationships/hyperlink" Target="https://leetcode.com/discuss/post/6696473/google-l3-onsite-r1-by-anonymous_user-n8rl/" TargetMode="External"/><Relationship Id="rId10" Type="http://schemas.openxmlformats.org/officeDocument/2006/relationships/hyperlink" Target="https://leetcode.com/discuss/post/6698309/google-screening-round-selected-by-anony-h3n0/" TargetMode="External"/><Relationship Id="rId13" Type="http://schemas.openxmlformats.org/officeDocument/2006/relationships/hyperlink" Target="https://leetcode.com/discuss/post/6696099/google-l3-onsite-r3-by-anonymous_user-8nma/" TargetMode="External"/><Relationship Id="rId12" Type="http://schemas.openxmlformats.org/officeDocument/2006/relationships/hyperlink" Target="https://leetcode.com/discuss/post/6696389/google-l3-onsite-r2-by-anonymous_user-bwpk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Python Cheetsheet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Recent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List of questions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https://leetcode.com/discuss/post/6185127/2024-google-interview-questions-compilat-mjrf/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819150" y="2797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Interview </a:t>
            </a:r>
            <a:r>
              <a:rPr lang="zh-TW"/>
              <a:t>questions</a:t>
            </a:r>
            <a:r>
              <a:rPr lang="zh-TW"/>
              <a:t> from leetcode discuss</a:t>
            </a:r>
            <a:endParaRPr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899350"/>
            <a:ext cx="7505700" cy="4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https://leetcode.com/discuss/post/6636134/google-tps-could-only-come-up-brute-forc-sd5j/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https://leetcode.com/discuss/post/6633777/google-l4-phone-screen-by-anonymous_user-gh1z/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https://leetcode.com/discuss/post/6633452/google-phone-screen-by-anonymous_user-4dud/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https://leetcode.com/discuss/post/6633090/google-phone-screen-by-anonymous_user-87p7/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https://leetcode.com/discuss/post/6631018/google-l4-swe3-by-anonymous_user-qyud/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https://leetcode.com/discuss/post/6630660/google-l5-round-2-by-anonymous_user-swe2/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https://leetcode.com/discuss/post/6629122/screening-round-with-google-by-anonymous-im7k/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https://leetcode.com/discuss/post/6628533/google-phone-screen-interview-round-by-a-gxhk/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https://leetcode.com/discuss/post/6626915/google-phone-screen-l4-change-recruiter-ogkke/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https://leetcode.com/discuss/post/6626770/google-l4-telephone-screen-by-anonymous_-rkx9/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https://leetcode.com/discuss/post/6626514/google-l3-tpsmarch-by-bhima2001-x7jv/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https://leetcode.com/discuss/post/6616428/google-l5-round-1-india-by-anonymous_use-qgdd/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https://leetcode.com/discuss/post/6623144/google-phone-screening-round-sde-3-by-an-mz3l/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https://leetcode.com/discuss/post/6623008/google-l3-interview-experience-by-anonym-ybia/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https://leetcode.com/discuss/post/6622332/google-oa-question-3032025-onsite-interv-iiu8/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https://leetcode.com/discuss/post/6618127/google-interview-experience-fresher-swe-tgyxx/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https://leetcode.com/discuss/post/6617221/google-l3-interview-experience-by-anonym-nt48/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https://leetcode.com/discuss/post/6678140/google-l3-optional-coding-assessment-202-s</a:t>
            </a: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1"/>
              </a:rPr>
              <a:t>t</a:t>
            </a: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0z/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3"/>
              </a:rPr>
              <a:t>https://leetcode.com/discuss/post/6676870/google-l4-onsite-1-by-anonymous_user-ehu5/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4"/>
              </a:rPr>
              <a:t>https://leetcode.com/discuss/post/6676167/google-l4-phone-screening-april-2025-by-e325f/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https://leetcode.com/discuss/post/6676028/google-l4-phone-screening-april-2025-by-dp8zr/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https://leetcode.com/discuss/post/6676008/google-swe-phone-screening-rejected-by-a-bl7s/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7"/>
              </a:rPr>
              <a:t>https://leetcode.com/discuss/post/6672500/google-mock-test-by-anonymous_user-hed8/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198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Interview questions from leetcode discuss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819150" y="803575"/>
            <a:ext cx="7505700" cy="3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https://leetcode.com/discuss/post/6671267/google-onsite-l4-by-anonymous_user-fggd/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https://leetcode.com/discuss/post/6670944/google-phone-screen-l3-verdict-passed-by-wl7a/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https://leetcode.com/discuss/post/6670584/google-onsite-l3-by-anonymous_user-c3w9/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https://leetcode.com/discuss/post/6669726/google-l3-interview-experience-by-anonym-5kfz/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https://leetcode.com/discuss/post/6663236/google-phone-screen-round-by-anonymous_u-prem/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https://leetcode.com/discuss/post/6659499/google-onsite-round-2-by-anonymous_user-u340/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https://leetcode.com/discuss/post/6685598/google-l4-1st-onsite-round-by-anonymous_-jw3q/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https://leetcode.com/discuss/post/6684774/google-l4-interview-experience-usa-by-an-bre1/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https://leetcode.com/discuss/post/6683848/google-onsite-round-1-by-anonymous_user-rj6b/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https://leetcode.com/discuss/post/6683794/google-interview-onsite-by-anonymous_use-kb7l/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https://leetcode.com/discuss/post/6701617/google-onsite-interview-experience-mar-2-h182/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https://leetcode.com/discuss/post/6701549/google-l4-interview-experience-by-anonym-izsb/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https://leetcode.com/discuss/post/6701519/google-l4-interview-by-anonymous_user-kmeq/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https://leetcode.com/discuss/post/6701291/help-google-onsite-interviews-l3-by-anon-5ycm/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https://leetcode.com/discuss/post/6701285/google-screen-round-l4-swe-by-anonymous_-snp5/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https://leetcode.com/discuss/post/6698886/google-onsite-round-1-question-by-anonym-ra0i/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https://leetcode.com/discuss/post/6698775/google-oa-question-by-anonymous_user-6y0k/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https://leetcode.com/discuss/post/6698309/google-screening-round-selected-by-anony-h3n0/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https://leetcode.com/discuss/post/6696473/google-l3-onsite-r1-by-anonymous_user-n8rl/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https://leetcode.com/discuss/post/6696389/google-l3-onsite-r2-by-anonymous_user-bwpk/</a:t>
            </a:r>
            <a:br>
              <a:rPr lang="zh-TW"/>
            </a:br>
            <a:r>
              <a:rPr lang="zh-TW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https://leetcode.com/discuss/post/6696099/google-l3-onsite-r3-by-anonymous_user-8nma/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先問清楚題目和input range, type，儘量自己定義好問可不可以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給兩個解法，確認可以再繼續寫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加好註解 邊寫邊解釋作法(要當作對方不會python)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dry run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time complexity 分析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Dynamic Programming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Longest Increasing Subsequence (LIS)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n = len(nums)</a:t>
            </a:r>
            <a:br>
              <a:rPr lang="zh-TW"/>
            </a:br>
            <a:r>
              <a:rPr lang="zh-TW"/>
              <a:t>dp = [1 for i in range(n)]</a:t>
            </a:r>
            <a:br>
              <a:rPr lang="zh-TW"/>
            </a:br>
            <a:r>
              <a:rPr lang="zh-TW"/>
              <a:t>for i in </a:t>
            </a:r>
            <a:r>
              <a:rPr lang="zh-TW"/>
              <a:t>range(len(nums)):</a:t>
            </a:r>
            <a:br>
              <a:rPr lang="zh-TW"/>
            </a:br>
            <a:r>
              <a:rPr lang="zh-TW"/>
              <a:t>	for j in range(i):</a:t>
            </a:r>
            <a:br>
              <a:rPr lang="zh-TW"/>
            </a:br>
            <a:r>
              <a:rPr lang="zh-TW"/>
              <a:t>		if nums[j] &lt; nums[i]:</a:t>
            </a:r>
            <a:br>
              <a:rPr lang="zh-TW"/>
            </a:br>
            <a:r>
              <a:rPr lang="zh-TW"/>
              <a:t>			dp[i] = max(dp[i], dp[j] + 1)</a:t>
            </a:r>
            <a:br>
              <a:rPr lang="zh-TW"/>
            </a:br>
            <a:br>
              <a:rPr lang="zh-TW"/>
            </a:br>
            <a:r>
              <a:rPr lang="zh-TW"/>
              <a:t>return max(dp)</a:t>
            </a:r>
            <a:endParaRPr/>
          </a:p>
        </p:txBody>
      </p:sp>
      <p:sp>
        <p:nvSpPr>
          <p:cNvPr id="176" name="Google Shape;176;p21"/>
          <p:cNvSpPr txBox="1"/>
          <p:nvPr>
            <p:ph idx="2" type="body"/>
          </p:nvPr>
        </p:nvSpPr>
        <p:spPr>
          <a:xfrm>
            <a:off x="4638675" y="1990725"/>
            <a:ext cx="4071000" cy="27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Optimal solution with binary search (Patience sort)</a:t>
            </a:r>
            <a:br>
              <a:rPr lang="zh-TW"/>
            </a:br>
            <a:r>
              <a:rPr lang="zh-TW"/>
              <a:t>end_deck = []</a:t>
            </a:r>
            <a:br>
              <a:rPr lang="zh-TW"/>
            </a:br>
            <a:r>
              <a:rPr lang="zh-TW"/>
              <a:t>for num in nums:</a:t>
            </a:r>
            <a:br>
              <a:rPr lang="zh-TW"/>
            </a:br>
            <a:r>
              <a:rPr lang="zh-TW"/>
              <a:t>	idx = bisect.bisect_left(end_deck, num)</a:t>
            </a:r>
            <a:br>
              <a:rPr lang="zh-TW"/>
            </a:br>
            <a:r>
              <a:rPr lang="zh-TW"/>
              <a:t>	if idx == len(end_deck):</a:t>
            </a:r>
            <a:br>
              <a:rPr lang="zh-TW"/>
            </a:br>
            <a:r>
              <a:rPr lang="zh-TW"/>
              <a:t>		end_deck.append(num)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end_deck[idx] = num</a:t>
            </a:r>
            <a:br>
              <a:rPr lang="zh-TW"/>
            </a:br>
            <a:br>
              <a:rPr lang="zh-TW"/>
            </a:br>
            <a:r>
              <a:rPr lang="zh-TW"/>
              <a:t>return len(end_deck)</a:t>
            </a:r>
            <a:br>
              <a:rPr lang="zh-TW"/>
            </a:br>
            <a:r>
              <a:rPr lang="zh-TW"/>
              <a:t>	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Number of LIS</a:t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252625" y="1515775"/>
            <a:ext cx="4386000" cy="32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O(N^2) time complexity</a:t>
            </a:r>
            <a:br>
              <a:rPr lang="zh-TW"/>
            </a:br>
            <a:r>
              <a:rPr lang="zh-TW"/>
              <a:t>n = len(nums)</a:t>
            </a:r>
            <a:br>
              <a:rPr lang="zh-TW"/>
            </a:br>
            <a:r>
              <a:rPr lang="zh-TW"/>
              <a:t>dp = [1 for i in range(n)] # dp[i] = longest length end at num[i]</a:t>
            </a:r>
            <a:br>
              <a:rPr lang="zh-TW"/>
            </a:br>
            <a:r>
              <a:rPr lang="zh-TW"/>
              <a:t>count = [1 for in range(n)]</a:t>
            </a:r>
            <a:br>
              <a:rPr lang="zh-TW"/>
            </a:br>
            <a:r>
              <a:rPr lang="zh-TW"/>
              <a:t>for i in range(n):</a:t>
            </a:r>
            <a:br>
              <a:rPr lang="zh-TW"/>
            </a:br>
            <a:r>
              <a:rPr lang="zh-TW"/>
              <a:t>	for j in range(i):</a:t>
            </a:r>
            <a:br>
              <a:rPr lang="zh-TW"/>
            </a:br>
            <a:r>
              <a:rPr lang="zh-TW"/>
              <a:t>		if nums[j] &lt; nums[i]:</a:t>
            </a:r>
            <a:br>
              <a:rPr lang="zh-TW"/>
            </a:br>
            <a:r>
              <a:rPr lang="zh-TW"/>
              <a:t>			if dp[i] &lt; dp[j] + 1:</a:t>
            </a:r>
            <a:br>
              <a:rPr lang="zh-TW"/>
            </a:br>
            <a:r>
              <a:rPr lang="zh-TW"/>
              <a:t>				dp[i] = dp[j] + 1</a:t>
            </a:r>
            <a:br>
              <a:rPr lang="zh-TW"/>
            </a:br>
            <a:r>
              <a:rPr lang="zh-TW"/>
              <a:t>				count[i] = count[j]</a:t>
            </a:r>
            <a:br>
              <a:rPr lang="zh-TW"/>
            </a:br>
            <a:r>
              <a:rPr lang="zh-TW"/>
              <a:t>			elif dp[i] == dp[j] + 1:</a:t>
            </a:r>
            <a:br>
              <a:rPr lang="zh-TW"/>
            </a:br>
            <a:r>
              <a:rPr lang="zh-TW"/>
              <a:t>				count[i] += count[j]</a:t>
            </a:r>
            <a:br>
              <a:rPr lang="zh-TW"/>
            </a:br>
            <a:br>
              <a:rPr lang="zh-TW"/>
            </a:br>
            <a:r>
              <a:rPr lang="zh-TW"/>
              <a:t>max_length = max(dp)</a:t>
            </a:r>
            <a:br>
              <a:rPr lang="zh-TW"/>
            </a:br>
            <a:r>
              <a:rPr lang="zh-TW"/>
              <a:t>total_count = sum(count[i] for i in range(len(count)) if dp[i] == max_length)</a:t>
            </a:r>
            <a:endParaRPr/>
          </a:p>
        </p:txBody>
      </p:sp>
      <p:sp>
        <p:nvSpPr>
          <p:cNvPr id="183" name="Google Shape;183;p22"/>
          <p:cNvSpPr txBox="1"/>
          <p:nvPr>
            <p:ph idx="2" type="body"/>
          </p:nvPr>
        </p:nvSpPr>
        <p:spPr>
          <a:xfrm>
            <a:off x="4546875" y="313250"/>
            <a:ext cx="4476900" cy="4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O(N log N)</a:t>
            </a:r>
            <a:br>
              <a:rPr lang="zh-TW"/>
            </a:br>
            <a:r>
              <a:rPr lang="zh-TW"/>
              <a:t>class BIT:</a:t>
            </a:r>
            <a:br>
              <a:rPr lang="zh-TW"/>
            </a:br>
            <a:r>
              <a:rPr lang="zh-TW"/>
              <a:t>	def </a:t>
            </a:r>
            <a:r>
              <a:rPr lang="zh-TW"/>
              <a:t>__</a:t>
            </a:r>
            <a:r>
              <a:rPr lang="zh-TW"/>
              <a:t>init</a:t>
            </a:r>
            <a:r>
              <a:rPr lang="zh-TW"/>
              <a:t>__(self, size):</a:t>
            </a:r>
            <a:br>
              <a:rPr lang="zh-TW"/>
            </a:br>
            <a:r>
              <a:rPr lang="zh-TW"/>
              <a:t>		self.size = size</a:t>
            </a:r>
            <a:br>
              <a:rPr lang="zh-TW"/>
            </a:br>
            <a:r>
              <a:rPr lang="zh-TW"/>
              <a:t>		self.lengths = [0] * (size + 1)</a:t>
            </a:r>
            <a:br>
              <a:rPr lang="zh-TW"/>
            </a:br>
            <a:r>
              <a:rPr lang="zh-TW"/>
              <a:t>		self.counts = [0] * (size+1)</a:t>
            </a:r>
            <a:br>
              <a:rPr lang="zh-TW"/>
            </a:br>
            <a:r>
              <a:rPr lang="zh-TW"/>
              <a:t>	def update(self, i, length, count):</a:t>
            </a:r>
            <a:br>
              <a:rPr lang="zh-TW"/>
            </a:br>
            <a:r>
              <a:rPr lang="zh-TW"/>
              <a:t>		while i &lt;= self.size:</a:t>
            </a:r>
            <a:br>
              <a:rPr lang="zh-TW"/>
            </a:br>
            <a:r>
              <a:rPr lang="zh-TW"/>
              <a:t>			…</a:t>
            </a:r>
            <a:br>
              <a:rPr lang="zh-TW"/>
            </a:br>
            <a:r>
              <a:rPr lang="zh-TW"/>
              <a:t>			i += i &amp; (-i)</a:t>
            </a:r>
            <a:br>
              <a:rPr lang="zh-TW"/>
            </a:br>
            <a:r>
              <a:rPr lang="zh-TW"/>
              <a:t>	def query(self, i) -&gt; Tuple[int, int]:</a:t>
            </a:r>
            <a:br>
              <a:rPr lang="zh-TW"/>
            </a:br>
            <a:r>
              <a:rPr lang="zh-TW"/>
              <a:t>		max_len, count = 0, 0</a:t>
            </a:r>
            <a:br>
              <a:rPr lang="zh-TW"/>
            </a:br>
            <a:r>
              <a:rPr lang="zh-TW"/>
              <a:t>		while i &gt; 0:</a:t>
            </a:r>
            <a:br>
              <a:rPr lang="zh-TW"/>
            </a:br>
            <a:r>
              <a:rPr lang="zh-TW"/>
              <a:t>			…</a:t>
            </a:r>
            <a:br>
              <a:rPr lang="zh-TW"/>
            </a:br>
            <a:r>
              <a:rPr lang="zh-TW"/>
              <a:t>			i -= i &amp; (-i)</a:t>
            </a:r>
            <a:br>
              <a:rPr lang="zh-TW"/>
            </a:br>
            <a:r>
              <a:rPr lang="zh-TW"/>
              <a:t>sorted_nums = sorted(set(nums))</a:t>
            </a:r>
            <a:br>
              <a:rPr lang="zh-TW"/>
            </a:br>
            <a:r>
              <a:rPr lang="zh-TW"/>
              <a:t>index = {num: idx + 1 for idx, num in enumerate(sorted_nums)}</a:t>
            </a:r>
            <a:br>
              <a:rPr lang="zh-TW"/>
            </a:br>
            <a:r>
              <a:rPr lang="zh-TW"/>
              <a:t>bit = BIT(len(index))</a:t>
            </a:r>
            <a:br>
              <a:rPr lang="zh-TW"/>
            </a:br>
            <a:br>
              <a:rPr lang="zh-TW"/>
            </a:b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819150" y="239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Number of LIS with Binary Index Tree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373900" y="919575"/>
            <a:ext cx="3698400" cy="4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class BIT:</a:t>
            </a:r>
            <a:br>
              <a:rPr lang="zh-TW"/>
            </a:br>
            <a:r>
              <a:rPr lang="zh-TW"/>
              <a:t>	def __init__(self, size):</a:t>
            </a:r>
            <a:br>
              <a:rPr lang="zh-TW"/>
            </a:br>
            <a:r>
              <a:rPr lang="zh-TW"/>
              <a:t>		self.size = size</a:t>
            </a:r>
            <a:br>
              <a:rPr lang="zh-TW"/>
            </a:br>
            <a:r>
              <a:rPr lang="zh-TW"/>
              <a:t>		self.lengths = [0] * (size + 1)</a:t>
            </a:r>
            <a:br>
              <a:rPr lang="zh-TW"/>
            </a:br>
            <a:r>
              <a:rPr lang="zh-TW"/>
              <a:t>		self.counts = [0] * (size+1)</a:t>
            </a:r>
            <a:br>
              <a:rPr lang="zh-TW"/>
            </a:br>
            <a:r>
              <a:rPr lang="zh-TW"/>
              <a:t>	def update(self, i, length, count):</a:t>
            </a:r>
            <a:br>
              <a:rPr lang="zh-TW"/>
            </a:br>
            <a:r>
              <a:rPr lang="zh-TW"/>
              <a:t>		while i &lt;= self.size:</a:t>
            </a:r>
            <a:br>
              <a:rPr lang="zh-TW"/>
            </a:br>
            <a:r>
              <a:rPr lang="zh-TW"/>
              <a:t>			if self.lengths[i] &lt; length:</a:t>
            </a:r>
            <a:br>
              <a:rPr lang="zh-TW"/>
            </a:br>
            <a:r>
              <a:rPr lang="zh-TW"/>
              <a:t>				self.lengths[i] = length</a:t>
            </a:r>
            <a:br>
              <a:rPr lang="zh-TW"/>
            </a:br>
            <a:r>
              <a:rPr lang="zh-TW"/>
              <a:t>				self.counts[i] = count</a:t>
            </a:r>
            <a:br>
              <a:rPr lang="zh-TW"/>
            </a:br>
            <a:r>
              <a:rPr lang="zh-TW"/>
              <a:t>			elif self.lengths[i] == length:</a:t>
            </a:r>
            <a:br>
              <a:rPr lang="zh-TW"/>
            </a:br>
            <a:r>
              <a:rPr lang="zh-TW"/>
              <a:t>				self.counts[i] += count</a:t>
            </a:r>
            <a:br>
              <a:rPr lang="zh-TW"/>
            </a:br>
            <a:r>
              <a:rPr lang="zh-TW"/>
              <a:t>			i += i &amp; (-i)</a:t>
            </a:r>
            <a:br>
              <a:rPr lang="zh-TW"/>
            </a:br>
            <a:r>
              <a:rPr lang="zh-TW"/>
              <a:t>	def query(self, i) -&gt; Tuple[int, int]:</a:t>
            </a:r>
            <a:br>
              <a:rPr lang="zh-TW"/>
            </a:br>
            <a:r>
              <a:rPr lang="zh-TW"/>
              <a:t>		max_len, count = 0, 0</a:t>
            </a:r>
            <a:br>
              <a:rPr lang="zh-TW"/>
            </a:br>
            <a:r>
              <a:rPr lang="zh-TW"/>
              <a:t>		while i &gt; 0:</a:t>
            </a:r>
            <a:br>
              <a:rPr lang="zh-TW"/>
            </a:br>
            <a:r>
              <a:rPr lang="zh-TW"/>
              <a:t>			if self.lengths[i] &gt; max_len:</a:t>
            </a:r>
            <a:br>
              <a:rPr lang="zh-TW"/>
            </a:br>
            <a:r>
              <a:rPr lang="zh-TW"/>
              <a:t>				max_len = self.lengths[i]</a:t>
            </a:r>
            <a:br>
              <a:rPr lang="zh-TW"/>
            </a:br>
            <a:r>
              <a:rPr lang="zh-TW"/>
              <a:t>				count = self.counts[i]</a:t>
            </a:r>
            <a:br>
              <a:rPr lang="zh-TW"/>
            </a:br>
            <a:r>
              <a:rPr lang="zh-TW"/>
              <a:t>			elif self.lengths[i] == max_len:</a:t>
            </a:r>
            <a:br>
              <a:rPr lang="zh-TW"/>
            </a:br>
            <a:r>
              <a:rPr lang="zh-TW"/>
              <a:t>				count += self.counts[i]</a:t>
            </a:r>
            <a:br>
              <a:rPr lang="zh-TW"/>
            </a:br>
            <a:r>
              <a:rPr lang="zh-TW"/>
              <a:t>			i -= i &amp; (-i)</a:t>
            </a:r>
            <a:endParaRPr/>
          </a:p>
        </p:txBody>
      </p:sp>
      <p:sp>
        <p:nvSpPr>
          <p:cNvPr id="190" name="Google Shape;190;p23"/>
          <p:cNvSpPr txBox="1"/>
          <p:nvPr>
            <p:ph idx="2" type="body"/>
          </p:nvPr>
        </p:nvSpPr>
        <p:spPr>
          <a:xfrm>
            <a:off x="4122875" y="919575"/>
            <a:ext cx="4820100" cy="3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TC =</a:t>
            </a:r>
            <a:r>
              <a:rPr lang="zh-TW">
                <a:solidFill>
                  <a:srgbClr val="FF0000"/>
                </a:solidFill>
              </a:rPr>
              <a:t> O(N log N): </a:t>
            </a:r>
            <a:r>
              <a:rPr lang="zh-TW">
                <a:solidFill>
                  <a:srgbClr val="FF0000"/>
                </a:solidFill>
              </a:rPr>
              <a:t>very complicate with binary index tree</a:t>
            </a:r>
            <a:br>
              <a:rPr lang="zh-TW"/>
            </a:br>
            <a:r>
              <a:rPr lang="zh-TW"/>
              <a:t>def numberOfLIST(nums):</a:t>
            </a:r>
            <a:br>
              <a:rPr lang="zh-TW"/>
            </a:br>
            <a:r>
              <a:rPr lang="zh-TW"/>
              <a:t>	</a:t>
            </a:r>
            <a:r>
              <a:rPr lang="zh-TW"/>
              <a:t>sorted_nums = sorted(set(nums))</a:t>
            </a:r>
            <a:br>
              <a:rPr lang="zh-TW"/>
            </a:br>
            <a:r>
              <a:rPr lang="zh-TW"/>
              <a:t>	index = {num: idx + 1 for idx, num in enumerate(sorted_nums)}</a:t>
            </a:r>
            <a:br>
              <a:rPr lang="zh-TW"/>
            </a:br>
            <a:r>
              <a:rPr lang="zh-TW"/>
              <a:t>	bit = BIT(len(index))</a:t>
            </a:r>
            <a:br>
              <a:rPr lang="zh-TW"/>
            </a:br>
            <a:r>
              <a:rPr lang="zh-TW"/>
              <a:t>	for num in nums:</a:t>
            </a:r>
            <a:br>
              <a:rPr lang="zh-TW"/>
            </a:br>
            <a:r>
              <a:rPr lang="zh-TW"/>
              <a:t>		idx = index[num]</a:t>
            </a:r>
            <a:br>
              <a:rPr lang="zh-TW"/>
            </a:br>
            <a:r>
              <a:rPr lang="zh-TW"/>
              <a:t>		max_len, count = bit.query(idx-1)</a:t>
            </a:r>
            <a:br>
              <a:rPr lang="zh-TW"/>
            </a:br>
            <a:r>
              <a:rPr lang="zh-TW"/>
              <a:t>		bit.update(idx, max_len+1, max(count, 1))</a:t>
            </a:r>
            <a:br>
              <a:rPr lang="zh-TW"/>
            </a:br>
            <a:br>
              <a:rPr lang="zh-TW"/>
            </a:br>
            <a:r>
              <a:rPr lang="zh-TW"/>
              <a:t>	return bit.query(len(index))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Longest Common Subsequence (LCS)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dp = [[0 for j in range(len(s2)+1)] for i in range(len(s1)+1)]</a:t>
            </a:r>
            <a:br>
              <a:rPr lang="zh-TW"/>
            </a:br>
            <a:br>
              <a:rPr lang="zh-TW"/>
            </a:br>
            <a:r>
              <a:rPr lang="zh-TW"/>
              <a:t>for i in range(1, len(s1)+1):</a:t>
            </a:r>
            <a:br>
              <a:rPr lang="zh-TW"/>
            </a:br>
            <a:r>
              <a:rPr lang="zh-TW"/>
              <a:t>	for j in range(1, len(s2) + 1):</a:t>
            </a:r>
            <a:br>
              <a:rPr lang="zh-TW"/>
            </a:br>
            <a:r>
              <a:rPr lang="zh-TW"/>
              <a:t>		if s1[i-1] == s2[j-1]:</a:t>
            </a:r>
            <a:br>
              <a:rPr lang="zh-TW"/>
            </a:br>
            <a:r>
              <a:rPr lang="zh-TW"/>
              <a:t>			dp[i][j] = dp[i-1][j-1] + 1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dp[i][j] = max(dp[i-1][j], dp[i][j-1])</a:t>
            </a:r>
            <a:br>
              <a:rPr lang="zh-TW"/>
            </a:br>
            <a:br>
              <a:rPr lang="zh-TW"/>
            </a:br>
            <a:r>
              <a:rPr lang="zh-TW"/>
              <a:t>return dp[len(s1)-1][len(s2)-1]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Longest Common Subsequence (LCS)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819150" y="1727425"/>
            <a:ext cx="7505700" cy="30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Rolling DP reduce to 1D</a:t>
            </a:r>
            <a:br>
              <a:rPr lang="zh-TW"/>
            </a:br>
            <a:r>
              <a:rPr lang="zh-TW"/>
              <a:t>if len(s1) &lt; len(s2):</a:t>
            </a:r>
            <a:br>
              <a:rPr lang="zh-TW"/>
            </a:br>
            <a:r>
              <a:rPr lang="zh-TW"/>
              <a:t>	s1, s2 = s2, s1</a:t>
            </a:r>
            <a:br>
              <a:rPr lang="zh-TW"/>
            </a:br>
            <a:br>
              <a:rPr lang="zh-TW"/>
            </a:br>
            <a:r>
              <a:rPr lang="zh-TW"/>
              <a:t>dp = [0 for j in range(len(s2)+1)]</a:t>
            </a:r>
            <a:br>
              <a:rPr lang="zh-TW"/>
            </a:br>
            <a:r>
              <a:rPr lang="zh-TW"/>
              <a:t>for i in range(1, len(s1)+1):</a:t>
            </a:r>
            <a:br>
              <a:rPr lang="zh-TW"/>
            </a:br>
            <a:r>
              <a:rPr lang="zh-TW"/>
              <a:t>	pre_dp = dp[:]</a:t>
            </a:r>
            <a:br>
              <a:rPr lang="zh-TW"/>
            </a:br>
            <a:r>
              <a:rPr lang="zh-TW"/>
              <a:t>	for j in range(1, len(s2) + 1):</a:t>
            </a:r>
            <a:br>
              <a:rPr lang="zh-TW"/>
            </a:br>
            <a:r>
              <a:rPr lang="zh-TW"/>
              <a:t>		if s1[i-1] == s2[j-1]:</a:t>
            </a:r>
            <a:br>
              <a:rPr lang="zh-TW"/>
            </a:br>
            <a:r>
              <a:rPr lang="zh-TW"/>
              <a:t>			dp[j] = pre_dp[j-1] + 1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dp[j] = max(pre_dp[j], dp[j-1])</a:t>
            </a:r>
            <a:br>
              <a:rPr lang="zh-TW"/>
            </a:br>
            <a:br>
              <a:rPr lang="zh-TW"/>
            </a:br>
            <a:r>
              <a:rPr lang="zh-TW"/>
              <a:t>return dp[len(s2)-1]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 Machine</a:t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2485050" y="1921575"/>
            <a:ext cx="1321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no stock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5425975" y="1921575"/>
            <a:ext cx="1321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have stock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26"/>
          <p:cNvCxnSpPr/>
          <p:nvPr/>
        </p:nvCxnSpPr>
        <p:spPr>
          <a:xfrm>
            <a:off x="3871950" y="2311725"/>
            <a:ext cx="148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26"/>
          <p:cNvSpPr txBox="1"/>
          <p:nvPr/>
        </p:nvSpPr>
        <p:spPr>
          <a:xfrm>
            <a:off x="4166700" y="1797488"/>
            <a:ext cx="8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buy</a:t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5425975" y="3345425"/>
            <a:ext cx="1321200" cy="78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cannot trade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6"/>
          <p:cNvCxnSpPr>
            <a:stCxn id="209" idx="2"/>
            <a:endCxn id="212" idx="0"/>
          </p:cNvCxnSpPr>
          <p:nvPr/>
        </p:nvCxnSpPr>
        <p:spPr>
          <a:xfrm>
            <a:off x="6086575" y="2701875"/>
            <a:ext cx="0" cy="6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26"/>
          <p:cNvSpPr txBox="1"/>
          <p:nvPr/>
        </p:nvSpPr>
        <p:spPr>
          <a:xfrm>
            <a:off x="5951725" y="2823538"/>
            <a:ext cx="89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sell</a:t>
            </a:r>
            <a:endParaRPr/>
          </a:p>
        </p:txBody>
      </p:sp>
      <p:cxnSp>
        <p:nvCxnSpPr>
          <p:cNvPr id="215" name="Google Shape;215;p26"/>
          <p:cNvCxnSpPr>
            <a:stCxn id="208" idx="1"/>
            <a:endCxn id="208" idx="0"/>
          </p:cNvCxnSpPr>
          <p:nvPr/>
        </p:nvCxnSpPr>
        <p:spPr>
          <a:xfrm flipH="1" rot="10800000">
            <a:off x="2485050" y="1921725"/>
            <a:ext cx="660600" cy="390000"/>
          </a:xfrm>
          <a:prstGeom prst="bentConnector4">
            <a:avLst>
              <a:gd fmla="val -36047" name="adj1"/>
              <a:gd fmla="val 1610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6"/>
          <p:cNvCxnSpPr>
            <a:stCxn id="209" idx="0"/>
            <a:endCxn id="209" idx="3"/>
          </p:cNvCxnSpPr>
          <p:nvPr/>
        </p:nvCxnSpPr>
        <p:spPr>
          <a:xfrm flipH="1" rot="-5400000">
            <a:off x="6221725" y="1786425"/>
            <a:ext cx="390300" cy="660600"/>
          </a:xfrm>
          <a:prstGeom prst="bentConnector4">
            <a:avLst>
              <a:gd fmla="val -61011" name="adj1"/>
              <a:gd fmla="val 13604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6"/>
          <p:cNvSpPr txBox="1"/>
          <p:nvPr/>
        </p:nvSpPr>
        <p:spPr>
          <a:xfrm>
            <a:off x="1929500" y="41978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max profit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profit = sell price - buy price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 Tree</a:t>
            </a:r>
            <a:endParaRPr/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Knapsack</a:t>
            </a:r>
            <a:endParaRPr/>
          </a:p>
        </p:txBody>
      </p:sp>
      <p:sp>
        <p:nvSpPr>
          <p:cNvPr id="229" name="Google Shape;229;p2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819150" y="3403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Bitmask</a:t>
            </a:r>
            <a:endParaRPr/>
          </a:p>
        </p:txBody>
      </p:sp>
      <p:sp>
        <p:nvSpPr>
          <p:cNvPr id="235" name="Google Shape;235;p29"/>
          <p:cNvSpPr txBox="1"/>
          <p:nvPr>
            <p:ph idx="1" type="body"/>
          </p:nvPr>
        </p:nvSpPr>
        <p:spPr>
          <a:xfrm>
            <a:off x="819150" y="1294950"/>
            <a:ext cx="7505700" cy="32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@lru_cache(None)</a:t>
            </a:r>
            <a:br>
              <a:rPr lang="zh-TW"/>
            </a:br>
            <a:r>
              <a:rPr lang="zh-TW"/>
              <a:t>def dp(used_mask, curr_idx):</a:t>
            </a:r>
            <a:br>
              <a:rPr lang="zh-TW"/>
            </a:br>
            <a:r>
              <a:rPr lang="zh-TW"/>
              <a:t>	</a:t>
            </a:r>
            <a:r>
              <a:rPr lang="zh-TW">
                <a:solidFill>
                  <a:srgbClr val="FF0000"/>
                </a:solidFill>
              </a:rPr>
              <a:t># termination condition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	if used_mask == ((1&lt;&lt;n) - 1):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curr_cost = compute_cost(idx)</a:t>
            </a:r>
            <a:br>
              <a:rPr lang="zh-TW"/>
            </a:br>
            <a:r>
              <a:rPr lang="zh-TW"/>
              <a:t>	min_cost = math.inf</a:t>
            </a:r>
            <a:br>
              <a:rPr lang="zh-TW"/>
            </a:br>
            <a:r>
              <a:rPr lang="zh-TW"/>
              <a:t>	for i in range(curr_idx+1, len(nums)):</a:t>
            </a:r>
            <a:br>
              <a:rPr lang="zh-TW"/>
            </a:br>
            <a:r>
              <a:rPr lang="zh-TW"/>
              <a:t>		</a:t>
            </a:r>
            <a:r>
              <a:rPr lang="zh-TW">
                <a:solidFill>
                  <a:srgbClr val="FF0000"/>
                </a:solidFill>
              </a:rPr>
              <a:t>if used_mask &amp; (1&lt;&lt;i) == 0: # not used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		</a:t>
            </a:r>
            <a:r>
              <a:rPr lang="zh-TW">
                <a:solidFill>
                  <a:srgbClr val="000000"/>
                </a:solidFill>
              </a:rPr>
              <a:t>	</a:t>
            </a:r>
            <a:r>
              <a:rPr lang="zh-TW">
                <a:solidFill>
                  <a:srgbClr val="FF0000"/>
                </a:solidFill>
              </a:rPr>
              <a:t>suffix_cost = dp(used_mask | (1&lt;&lt;i), i)</a:t>
            </a:r>
            <a:br>
              <a:rPr lang="zh-TW">
                <a:solidFill>
                  <a:srgbClr val="000000"/>
                </a:solidFill>
              </a:rPr>
            </a:br>
            <a:r>
              <a:rPr lang="zh-TW">
                <a:solidFill>
                  <a:srgbClr val="000000"/>
                </a:solidFill>
              </a:rPr>
              <a:t>			min_cost = min(min_cost, suffix_cost)</a:t>
            </a:r>
            <a:br>
              <a:rPr lang="zh-TW">
                <a:solidFill>
                  <a:srgbClr val="000000"/>
                </a:solidFill>
              </a:rPr>
            </a:br>
            <a:r>
              <a:rPr lang="zh-TW">
                <a:solidFill>
                  <a:srgbClr val="000000"/>
                </a:solidFill>
              </a:rPr>
              <a:t>	return min_cost + curr_cost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Digit DP</a:t>
            </a:r>
            <a:endParaRPr/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Breath First Search (BFS)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visited = [False] * n</a:t>
            </a:r>
            <a:br>
              <a:rPr lang="zh-TW"/>
            </a:br>
            <a:r>
              <a:rPr lang="zh-TW"/>
              <a:t>visited[src] = True</a:t>
            </a:r>
            <a:br>
              <a:rPr lang="zh-TW"/>
            </a:br>
            <a:r>
              <a:rPr lang="zh-TW"/>
              <a:t>queue = deque([src]) # double-ended queue</a:t>
            </a:r>
            <a:br>
              <a:rPr lang="zh-TW"/>
            </a:br>
            <a:r>
              <a:rPr lang="zh-TW"/>
              <a:t>while queue:</a:t>
            </a:r>
            <a:br>
              <a:rPr lang="zh-TW"/>
            </a:br>
            <a:r>
              <a:rPr lang="zh-TW"/>
              <a:t>	node = queue.popleft()</a:t>
            </a:r>
            <a:br>
              <a:rPr lang="zh-TW"/>
            </a:br>
            <a:br>
              <a:rPr lang="zh-TW"/>
            </a:br>
            <a:r>
              <a:rPr lang="zh-TW"/>
              <a:t>	for neighbor in graph[node]:</a:t>
            </a:r>
            <a:br>
              <a:rPr lang="zh-TW"/>
            </a:br>
            <a:r>
              <a:rPr lang="zh-TW"/>
              <a:t>		if not visited[neighbor]:</a:t>
            </a:r>
            <a:br>
              <a:rPr lang="zh-TW"/>
            </a:br>
            <a:r>
              <a:rPr lang="zh-TW"/>
              <a:t>			visited[neighbor] = True</a:t>
            </a:r>
            <a:br>
              <a:rPr lang="zh-TW"/>
            </a:br>
            <a:r>
              <a:rPr lang="zh-TW"/>
              <a:t>			queue.append(neighbor)</a:t>
            </a:r>
            <a:br>
              <a:rPr lang="zh-TW"/>
            </a:br>
            <a:endParaRPr/>
          </a:p>
        </p:txBody>
      </p:sp>
      <p:sp>
        <p:nvSpPr>
          <p:cNvPr id="253" name="Google Shape;253;p32"/>
          <p:cNvSpPr txBox="1"/>
          <p:nvPr>
            <p:ph idx="2" type="body"/>
          </p:nvPr>
        </p:nvSpPr>
        <p:spPr>
          <a:xfrm>
            <a:off x="4638675" y="1990725"/>
            <a:ext cx="4223400" cy="28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visited = [False] * n</a:t>
            </a:r>
            <a:br>
              <a:rPr lang="zh-TW"/>
            </a:br>
            <a:r>
              <a:rPr lang="zh-TW"/>
              <a:t>visited[src] = True</a:t>
            </a:r>
            <a:br>
              <a:rPr lang="zh-TW"/>
            </a:br>
            <a:r>
              <a:rPr lang="zh-TW"/>
              <a:t>level = [src]</a:t>
            </a:r>
            <a:br>
              <a:rPr lang="zh-TW"/>
            </a:br>
            <a:r>
              <a:rPr lang="zh-TW"/>
              <a:t>while level:</a:t>
            </a:r>
            <a:br>
              <a:rPr lang="zh-TW"/>
            </a:br>
            <a:r>
              <a:rPr lang="zh-TW"/>
              <a:t>	next_level = []</a:t>
            </a:r>
            <a:br>
              <a:rPr lang="zh-TW"/>
            </a:br>
            <a:r>
              <a:rPr lang="zh-TW"/>
              <a:t>	for node in level:</a:t>
            </a:r>
            <a:br>
              <a:rPr lang="zh-TW"/>
            </a:br>
            <a:r>
              <a:rPr lang="zh-TW"/>
              <a:t>		for neighbor in graph[node]:</a:t>
            </a:r>
            <a:br>
              <a:rPr lang="zh-TW"/>
            </a:br>
            <a:r>
              <a:rPr lang="zh-TW"/>
              <a:t>			if not visited[neighbor]:</a:t>
            </a:r>
            <a:br>
              <a:rPr lang="zh-TW"/>
            </a:br>
            <a:r>
              <a:rPr lang="zh-TW"/>
              <a:t>				visited[neighbor] = True</a:t>
            </a:r>
            <a:br>
              <a:rPr lang="zh-TW"/>
            </a:br>
            <a:r>
              <a:rPr lang="zh-TW"/>
              <a:t>				next_level.append(neighbor)</a:t>
            </a:r>
            <a:br>
              <a:rPr lang="zh-TW"/>
            </a:br>
            <a:br>
              <a:rPr lang="zh-TW"/>
            </a:br>
            <a:r>
              <a:rPr lang="zh-TW"/>
              <a:t>	level = next_level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Depth First Search (DFS)</a:t>
            </a:r>
            <a:endParaRPr/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Union Find (Disjoint Set)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Suppose node id is 0 to n-1</a:t>
            </a:r>
            <a:br>
              <a:rPr lang="zh-TW"/>
            </a:br>
            <a:r>
              <a:rPr lang="zh-TW"/>
              <a:t>parent = [i for i in range(n)]</a:t>
            </a:r>
            <a:br>
              <a:rPr lang="zh-TW"/>
            </a:br>
            <a:r>
              <a:rPr lang="zh-TW"/>
              <a:t>def find(i):</a:t>
            </a:r>
            <a:br>
              <a:rPr lang="zh-TW"/>
            </a:br>
            <a:r>
              <a:rPr lang="zh-TW"/>
              <a:t>	if parent[i] != i:</a:t>
            </a:r>
            <a:br>
              <a:rPr lang="zh-TW"/>
            </a:br>
            <a:r>
              <a:rPr lang="zh-TW"/>
              <a:t>		parent[i] = find(parent[i])</a:t>
            </a:r>
            <a:br>
              <a:rPr lang="zh-TW"/>
            </a:br>
            <a:r>
              <a:rPr lang="zh-TW"/>
              <a:t>	return parent [i]</a:t>
            </a:r>
            <a:br>
              <a:rPr lang="zh-TW"/>
            </a:br>
            <a:br>
              <a:rPr lang="zh-TW"/>
            </a:br>
            <a:r>
              <a:rPr lang="zh-TW"/>
              <a:t>def union(i, j):</a:t>
            </a:r>
            <a:br>
              <a:rPr lang="zh-TW"/>
            </a:br>
            <a:r>
              <a:rPr lang="zh-TW"/>
              <a:t>	</a:t>
            </a:r>
            <a:r>
              <a:rPr lang="zh-TW"/>
              <a:t># make root of j becomes a child of root of i</a:t>
            </a:r>
            <a:br>
              <a:rPr lang="zh-TW"/>
            </a:br>
            <a:r>
              <a:rPr lang="zh-TW"/>
              <a:t>	parent[</a:t>
            </a:r>
            <a:r>
              <a:rPr lang="zh-TW"/>
              <a:t>find(j)</a:t>
            </a:r>
            <a:r>
              <a:rPr lang="zh-TW"/>
              <a:t>] = </a:t>
            </a:r>
            <a:r>
              <a:rPr lang="zh-TW"/>
              <a:t>find(i)</a:t>
            </a:r>
            <a:endParaRPr/>
          </a:p>
        </p:txBody>
      </p:sp>
      <p:sp>
        <p:nvSpPr>
          <p:cNvPr id="266" name="Google Shape;266;p34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Example: find number of connected nodes</a:t>
            </a:r>
            <a:br>
              <a:rPr lang="zh-TW"/>
            </a:br>
            <a:r>
              <a:rPr lang="zh-TW"/>
              <a:t>for a, b in edges:</a:t>
            </a:r>
            <a:br>
              <a:rPr lang="zh-TW"/>
            </a:br>
            <a:r>
              <a:rPr lang="zh-TW"/>
              <a:t>	union(a, b)</a:t>
            </a:r>
            <a:br>
              <a:rPr lang="zh-TW"/>
            </a:br>
            <a:br>
              <a:rPr lang="zh-TW"/>
            </a:br>
            <a:r>
              <a:rPr lang="zh-TW"/>
              <a:t>unique_root = set()</a:t>
            </a:r>
            <a:br>
              <a:rPr lang="zh-TW"/>
            </a:br>
            <a:r>
              <a:rPr lang="zh-TW"/>
              <a:t>for p in parent:</a:t>
            </a:r>
            <a:br>
              <a:rPr lang="zh-TW"/>
            </a:br>
            <a:r>
              <a:rPr lang="zh-TW"/>
              <a:t>	unique_root.add(</a:t>
            </a:r>
            <a:r>
              <a:rPr b="1" lang="zh-TW"/>
              <a:t>find(p)</a:t>
            </a:r>
            <a:r>
              <a:rPr lang="zh-TW"/>
              <a:t>)</a:t>
            </a:r>
            <a:br>
              <a:rPr lang="zh-TW"/>
            </a:br>
            <a:br>
              <a:rPr lang="zh-TW"/>
            </a:br>
            <a:r>
              <a:rPr lang="zh-TW"/>
              <a:t>return len(unique_root)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Union Find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class DSU:</a:t>
            </a:r>
            <a:br>
              <a:rPr lang="zh-TW"/>
            </a:br>
            <a:r>
              <a:rPr lang="zh-TW"/>
              <a:t>	def </a:t>
            </a:r>
            <a:r>
              <a:rPr lang="zh-TW"/>
              <a:t>__</a:t>
            </a:r>
            <a:r>
              <a:rPr lang="zh-TW"/>
              <a:t>init</a:t>
            </a:r>
            <a:r>
              <a:rPr lang="zh-TW"/>
              <a:t>__(self, size):</a:t>
            </a:r>
            <a:br>
              <a:rPr lang="zh-TW"/>
            </a:br>
            <a:r>
              <a:rPr lang="zh-TW"/>
              <a:t>		self.parent = [i for i in range(size)]</a:t>
            </a:r>
            <a:br>
              <a:rPr lang="zh-TW"/>
            </a:br>
            <a:br>
              <a:rPr lang="zh-TW"/>
            </a:br>
            <a:r>
              <a:rPr lang="zh-TW"/>
              <a:t>	def find(self, i):</a:t>
            </a:r>
            <a:br>
              <a:rPr lang="zh-TW"/>
            </a:br>
            <a:r>
              <a:rPr lang="zh-TW"/>
              <a:t>		if self.parent[i] != i:</a:t>
            </a:r>
            <a:br>
              <a:rPr lang="zh-TW"/>
            </a:br>
            <a:r>
              <a:rPr lang="zh-TW"/>
              <a:t>			self.parent[i] = self.find(self.parent[i])</a:t>
            </a:r>
            <a:br>
              <a:rPr lang="zh-TW"/>
            </a:br>
            <a:r>
              <a:rPr lang="zh-TW"/>
              <a:t>		return self.parent[i]</a:t>
            </a:r>
            <a:br>
              <a:rPr lang="zh-TW"/>
            </a:br>
            <a:br>
              <a:rPr lang="zh-TW"/>
            </a:br>
            <a:r>
              <a:rPr lang="zh-TW"/>
              <a:t>	def union(self, i, j):</a:t>
            </a:r>
            <a:br>
              <a:rPr lang="zh-TW"/>
            </a:br>
            <a:r>
              <a:rPr lang="zh-TW"/>
              <a:t>		self.parent[self.find(i)] = self.find(j)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Topological Sort (BFS a.k.a Kahn’s)</a:t>
            </a:r>
            <a:endParaRPr/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819150" y="1990725"/>
            <a:ext cx="32253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graph = [[] for i in range(n)]</a:t>
            </a:r>
            <a:br>
              <a:rPr lang="zh-TW"/>
            </a:br>
            <a:r>
              <a:rPr lang="zh-TW"/>
              <a:t>in_degree = [0 for i in range(n)]  # [0] * n</a:t>
            </a:r>
            <a:br>
              <a:rPr lang="zh-TW"/>
            </a:br>
            <a:r>
              <a:rPr lang="zh-TW"/>
              <a:t>for u, v in edges:</a:t>
            </a:r>
            <a:br>
              <a:rPr lang="zh-TW"/>
            </a:br>
            <a:r>
              <a:rPr lang="zh-TW"/>
              <a:t>	graph[u].append(v)</a:t>
            </a:r>
            <a:br>
              <a:rPr lang="zh-TW"/>
            </a:br>
            <a:r>
              <a:rPr lang="zh-TW"/>
              <a:t>	in_degree[v] += 1</a:t>
            </a:r>
            <a:endParaRPr/>
          </a:p>
        </p:txBody>
      </p:sp>
      <p:sp>
        <p:nvSpPr>
          <p:cNvPr id="279" name="Google Shape;279;p36"/>
          <p:cNvSpPr txBox="1"/>
          <p:nvPr>
            <p:ph idx="2" type="body"/>
          </p:nvPr>
        </p:nvSpPr>
        <p:spPr>
          <a:xfrm>
            <a:off x="4044450" y="1990725"/>
            <a:ext cx="4654800" cy="27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order = </a:t>
            </a:r>
            <a:r>
              <a:rPr lang="zh-TW"/>
              <a:t>[]</a:t>
            </a:r>
            <a:br>
              <a:rPr lang="zh-TW"/>
            </a:br>
            <a:r>
              <a:rPr lang="zh-TW"/>
              <a:t>queue = deque([i for i in range(n) if in_degree[i] == 0])</a:t>
            </a:r>
            <a:br>
              <a:rPr lang="zh-TW"/>
            </a:br>
            <a:r>
              <a:rPr lang="zh-TW"/>
              <a:t>while queue:</a:t>
            </a:r>
            <a:br>
              <a:rPr lang="zh-TW"/>
            </a:br>
            <a:r>
              <a:rPr lang="zh-TW"/>
              <a:t>	curr_node = queue.popleft()</a:t>
            </a:r>
            <a:br>
              <a:rPr lang="zh-TW"/>
            </a:br>
            <a:r>
              <a:rPr lang="zh-TW"/>
              <a:t>	order.append(curr_node)</a:t>
            </a:r>
            <a:br>
              <a:rPr lang="zh-TW"/>
            </a:br>
            <a:r>
              <a:rPr lang="zh-TW"/>
              <a:t>	for next_node in graph[curr_node]:</a:t>
            </a:r>
            <a:br>
              <a:rPr lang="zh-TW"/>
            </a:br>
            <a:r>
              <a:rPr lang="zh-TW"/>
              <a:t>		in_degree[next_node] -= 1</a:t>
            </a:r>
            <a:br>
              <a:rPr lang="zh-TW"/>
            </a:br>
            <a:r>
              <a:rPr lang="zh-TW"/>
              <a:t>		if in_degree[next_node] == 0:</a:t>
            </a:r>
            <a:br>
              <a:rPr lang="zh-TW"/>
            </a:br>
            <a:r>
              <a:rPr lang="zh-TW"/>
              <a:t>			queue.append(next_node)</a:t>
            </a:r>
            <a:br>
              <a:rPr lang="zh-TW"/>
            </a:br>
            <a:br>
              <a:rPr lang="zh-TW"/>
            </a:br>
            <a:r>
              <a:rPr lang="zh-TW"/>
              <a:t>len(order) == len(graph)  # cycle detection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819150" y="369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Topological Sort (DFS)</a:t>
            </a:r>
            <a:endParaRPr/>
          </a:p>
        </p:txBody>
      </p:sp>
      <p:sp>
        <p:nvSpPr>
          <p:cNvPr id="285" name="Google Shape;285;p37"/>
          <p:cNvSpPr txBox="1"/>
          <p:nvPr>
            <p:ph idx="1" type="body"/>
          </p:nvPr>
        </p:nvSpPr>
        <p:spPr>
          <a:xfrm>
            <a:off x="415750" y="1990725"/>
            <a:ext cx="3541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graph = [[] for </a:t>
            </a:r>
            <a:r>
              <a:rPr lang="zh-TW"/>
              <a:t>i in range(n)]</a:t>
            </a:r>
            <a:br>
              <a:rPr lang="zh-TW"/>
            </a:br>
            <a:r>
              <a:rPr lang="zh-TW"/>
              <a:t>for u, v in edges:</a:t>
            </a:r>
            <a:br>
              <a:rPr lang="zh-TW"/>
            </a:br>
            <a:r>
              <a:rPr lang="zh-TW"/>
              <a:t>	graph[u].append(v)</a:t>
            </a:r>
            <a:br>
              <a:rPr lang="zh-TW"/>
            </a:br>
            <a:br>
              <a:rPr lang="zh-TW"/>
            </a:br>
            <a:r>
              <a:rPr lang="zh-TW"/>
              <a:t>has_cycle = False</a:t>
            </a:r>
            <a:br>
              <a:rPr lang="zh-TW"/>
            </a:br>
            <a:r>
              <a:rPr lang="zh-TW"/>
              <a:t>visited = [0] * n  # 0: not visit, 1: visiting, 2: visited</a:t>
            </a:r>
            <a:br>
              <a:rPr lang="zh-TW"/>
            </a:br>
            <a:r>
              <a:rPr lang="zh-TW"/>
              <a:t>results = []</a:t>
            </a:r>
            <a:br>
              <a:rPr lang="zh-TW"/>
            </a:br>
            <a:endParaRPr/>
          </a:p>
        </p:txBody>
      </p:sp>
      <p:sp>
        <p:nvSpPr>
          <p:cNvPr id="286" name="Google Shape;286;p37"/>
          <p:cNvSpPr txBox="1"/>
          <p:nvPr>
            <p:ph idx="2" type="body"/>
          </p:nvPr>
        </p:nvSpPr>
        <p:spPr>
          <a:xfrm>
            <a:off x="3957025" y="1003350"/>
            <a:ext cx="48456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dfs(node):</a:t>
            </a:r>
            <a:br>
              <a:rPr lang="zh-TW"/>
            </a:br>
            <a:r>
              <a:rPr lang="zh-TW"/>
              <a:t>	nonlocal has_cycle</a:t>
            </a:r>
            <a:br>
              <a:rPr lang="zh-TW"/>
            </a:br>
            <a:r>
              <a:rPr lang="zh-TW"/>
              <a:t>	if visited[node] == 2: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elif visited[node] == 1:</a:t>
            </a:r>
            <a:br>
              <a:rPr lang="zh-TW"/>
            </a:br>
            <a:r>
              <a:rPr lang="zh-TW"/>
              <a:t>		has_cycle = True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br>
              <a:rPr lang="zh-TW"/>
            </a:br>
            <a:r>
              <a:rPr lang="zh-TW"/>
              <a:t>	visited[node] = 1</a:t>
            </a:r>
            <a:br>
              <a:rPr lang="zh-TW"/>
            </a:br>
            <a:r>
              <a:rPr lang="zh-TW"/>
              <a:t>	for next_node in graph[node]:</a:t>
            </a:r>
            <a:br>
              <a:rPr lang="zh-TW"/>
            </a:br>
            <a:r>
              <a:rPr lang="zh-TW"/>
              <a:t>		dfs(next_node)</a:t>
            </a:r>
            <a:br>
              <a:rPr lang="zh-TW"/>
            </a:br>
            <a:r>
              <a:rPr lang="zh-TW"/>
              <a:t>	visited[node] = 2</a:t>
            </a:r>
            <a:br>
              <a:rPr lang="zh-TW"/>
            </a:br>
            <a:r>
              <a:rPr lang="zh-TW"/>
              <a:t>	results.append(node)</a:t>
            </a:r>
            <a:br>
              <a:rPr lang="zh-TW"/>
            </a:br>
            <a:br>
              <a:rPr lang="zh-TW"/>
            </a:br>
            <a:r>
              <a:rPr lang="zh-TW"/>
              <a:t>for node in range(n):</a:t>
            </a:r>
            <a:br>
              <a:rPr lang="zh-TW"/>
            </a:br>
            <a:r>
              <a:rPr lang="zh-TW"/>
              <a:t>	dfs(node)</a:t>
            </a:r>
            <a:br>
              <a:rPr lang="zh-TW"/>
            </a:br>
            <a:br>
              <a:rPr lang="zh-TW"/>
            </a:br>
            <a:r>
              <a:rPr lang="zh-TW"/>
              <a:t>return results[::-1] if has_cycle == False else []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>
            <p:ph type="title"/>
          </p:nvPr>
        </p:nvSpPr>
        <p:spPr>
          <a:xfrm>
            <a:off x="819150" y="54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Dijkstra</a:t>
            </a:r>
            <a:endParaRPr/>
          </a:p>
        </p:txBody>
      </p:sp>
      <p:sp>
        <p:nvSpPr>
          <p:cNvPr id="292" name="Google Shape;292;p38"/>
          <p:cNvSpPr txBox="1"/>
          <p:nvPr>
            <p:ph idx="1" type="body"/>
          </p:nvPr>
        </p:nvSpPr>
        <p:spPr>
          <a:xfrm>
            <a:off x="819150" y="1374300"/>
            <a:ext cx="7505700" cy="3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Time complexity = O((V+E)logV), Space complexity = O(V+E)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# Requires non-negative weights</a:t>
            </a:r>
            <a:br>
              <a:rPr lang="zh-TW"/>
            </a:br>
            <a:r>
              <a:rPr lang="zh-TW"/>
              <a:t>min_dist = [math.inf] * n</a:t>
            </a:r>
            <a:br>
              <a:rPr lang="zh-TW"/>
            </a:br>
            <a:r>
              <a:rPr lang="zh-TW"/>
              <a:t>min_dist[src] = 0</a:t>
            </a:r>
            <a:br>
              <a:rPr lang="zh-TW"/>
            </a:br>
            <a:r>
              <a:rPr lang="zh-TW"/>
              <a:t>heap = [(0, src)]</a:t>
            </a:r>
            <a:br>
              <a:rPr lang="zh-TW"/>
            </a:br>
            <a:r>
              <a:rPr lang="zh-TW"/>
              <a:t>while heap:</a:t>
            </a:r>
            <a:br>
              <a:rPr lang="zh-TW"/>
            </a:br>
            <a:r>
              <a:rPr lang="zh-TW"/>
              <a:t>	prev_dist, node = heapq.heappop(heap)</a:t>
            </a:r>
            <a:br>
              <a:rPr lang="zh-TW"/>
            </a:br>
            <a:r>
              <a:rPr lang="zh-TW"/>
              <a:t>	if min_dist[node] &lt; prev_dist:</a:t>
            </a:r>
            <a:br>
              <a:rPr lang="zh-TW"/>
            </a:br>
            <a:r>
              <a:rPr lang="zh-TW"/>
              <a:t>		continue</a:t>
            </a:r>
            <a:br>
              <a:rPr lang="zh-TW"/>
            </a:br>
            <a:r>
              <a:rPr lang="zh-TW"/>
              <a:t>	min_dist[node] = prev_dist</a:t>
            </a:r>
            <a:br>
              <a:rPr lang="zh-TW"/>
            </a:br>
            <a:r>
              <a:rPr lang="zh-TW"/>
              <a:t>	for next_node, dist in graph[node]:</a:t>
            </a:r>
            <a:br>
              <a:rPr lang="zh-TW"/>
            </a:br>
            <a:r>
              <a:rPr lang="zh-TW"/>
              <a:t>		if min_dist[next_node] &gt; prev_dist + dist:</a:t>
            </a:r>
            <a:br>
              <a:rPr lang="zh-TW"/>
            </a:br>
            <a:r>
              <a:rPr lang="zh-TW"/>
              <a:t>			min_dist[next_node] = prev_dist + dist</a:t>
            </a:r>
            <a:br>
              <a:rPr lang="zh-TW"/>
            </a:br>
            <a:r>
              <a:rPr lang="zh-TW"/>
              <a:t>			heapq.heappush(heap, (prev_dist + dist, next_node))</a:t>
            </a:r>
            <a:br>
              <a:rPr lang="zh-TW"/>
            </a:br>
            <a:br>
              <a:rPr lang="zh-TW"/>
            </a:br>
            <a:r>
              <a:rPr lang="zh-TW"/>
              <a:t>min_dist # minimum distance of src to node = min_dist[node]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819150" y="54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Dijkstra within k Steps</a:t>
            </a:r>
            <a:endParaRPr/>
          </a:p>
        </p:txBody>
      </p:sp>
      <p:sp>
        <p:nvSpPr>
          <p:cNvPr id="298" name="Google Shape;298;p39"/>
          <p:cNvSpPr txBox="1"/>
          <p:nvPr>
            <p:ph idx="1" type="body"/>
          </p:nvPr>
        </p:nvSpPr>
        <p:spPr>
          <a:xfrm>
            <a:off x="819150" y="1323775"/>
            <a:ext cx="7505700" cy="3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Time complexity = O(kVlogV + E), Space complexity = O(V+E)</a:t>
            </a:r>
            <a:br>
              <a:rPr lang="zh-TW"/>
            </a:br>
            <a:r>
              <a:rPr lang="zh-TW"/>
              <a:t>min_dist = dict()  # {(node, step): dist}</a:t>
            </a:r>
            <a:br>
              <a:rPr lang="zh-TW"/>
            </a:br>
            <a:r>
              <a:rPr lang="zh-TW"/>
              <a:t>heap = [(0, src, 0)]</a:t>
            </a:r>
            <a:br>
              <a:rPr lang="zh-TW"/>
            </a:br>
            <a:r>
              <a:rPr lang="zh-TW"/>
              <a:t>while heap:</a:t>
            </a:r>
            <a:br>
              <a:rPr lang="zh-TW"/>
            </a:br>
            <a:r>
              <a:rPr lang="zh-TW"/>
              <a:t>	prev_dist, node, step = heapq.heappop(heap)</a:t>
            </a:r>
            <a:br>
              <a:rPr lang="zh-TW"/>
            </a:br>
            <a:r>
              <a:rPr lang="zh-TW"/>
              <a:t>	if (node, step) in min_dist and min_dist[(node, step)] &lt; prev_dist:</a:t>
            </a:r>
            <a:br>
              <a:rPr lang="zh-TW"/>
            </a:br>
            <a:r>
              <a:rPr lang="zh-TW"/>
              <a:t>		continue</a:t>
            </a:r>
            <a:br>
              <a:rPr lang="zh-TW"/>
            </a:br>
            <a:br>
              <a:rPr lang="zh-TW"/>
            </a:br>
            <a:r>
              <a:rPr lang="zh-TW"/>
              <a:t>	min_dist[(node, step)] = prev_dist</a:t>
            </a:r>
            <a:br>
              <a:rPr lang="zh-TW"/>
            </a:br>
            <a:br>
              <a:rPr lang="zh-TW"/>
            </a:br>
            <a:r>
              <a:rPr lang="zh-TW"/>
              <a:t>	if step &gt;= max_step:</a:t>
            </a:r>
            <a:br>
              <a:rPr lang="zh-TW"/>
            </a:br>
            <a:r>
              <a:rPr lang="zh-TW"/>
              <a:t>		continue</a:t>
            </a:r>
            <a:br>
              <a:rPr lang="zh-TW"/>
            </a:br>
            <a:br>
              <a:rPr lang="zh-TW"/>
            </a:br>
            <a:r>
              <a:rPr lang="zh-TW"/>
              <a:t>	for next_node, dist in graph[node]:</a:t>
            </a:r>
            <a:br>
              <a:rPr lang="zh-TW"/>
            </a:br>
            <a:r>
              <a:rPr lang="zh-TW"/>
              <a:t>		if </a:t>
            </a:r>
            <a:r>
              <a:rPr lang="zh-TW"/>
              <a:t>(next_node, step+1) not in min_dist or </a:t>
            </a:r>
            <a:r>
              <a:rPr lang="zh-TW"/>
              <a:t>min_dist[(next_node, step+1)] &gt; prev_dist + dist:</a:t>
            </a:r>
            <a:br>
              <a:rPr lang="zh-TW"/>
            </a:br>
            <a:r>
              <a:rPr lang="zh-TW"/>
              <a:t>			min_dist[</a:t>
            </a:r>
            <a:r>
              <a:rPr lang="zh-TW"/>
              <a:t>(next_node, step+1)</a:t>
            </a:r>
            <a:r>
              <a:rPr lang="zh-TW"/>
              <a:t>] = prev_dist + dist</a:t>
            </a:r>
            <a:br>
              <a:rPr lang="zh-TW"/>
            </a:br>
            <a:r>
              <a:rPr lang="zh-TW"/>
              <a:t>			heapq.heappush(heap, (prev_dist + dist, next_node, step+1))</a:t>
            </a:r>
            <a:br>
              <a:rPr lang="zh-TW"/>
            </a:br>
            <a:br>
              <a:rPr lang="zh-TW"/>
            </a:br>
            <a:r>
              <a:rPr lang="zh-TW"/>
              <a:t>min_dist # minimum distance of src to node = min_dist[node]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819150" y="2595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Minimum Spanning Tree (Kruskal’s)</a:t>
            </a:r>
            <a:endParaRPr/>
          </a:p>
        </p:txBody>
      </p:sp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485050" y="980200"/>
            <a:ext cx="3365100" cy="37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Union-find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# Time complexity = O(ElogE + α(V))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# Space complexity = O(V + E)</a:t>
            </a:r>
            <a:br>
              <a:rPr lang="zh-TW"/>
            </a:br>
            <a:r>
              <a:rPr lang="zh-TW"/>
              <a:t>parent = [i for i in range(n)]</a:t>
            </a:r>
            <a:br>
              <a:rPr lang="zh-TW"/>
            </a:br>
            <a:r>
              <a:rPr lang="zh-TW"/>
              <a:t>def find(i):</a:t>
            </a:r>
            <a:br>
              <a:rPr lang="zh-TW"/>
            </a:br>
            <a:r>
              <a:rPr lang="zh-TW"/>
              <a:t>	if parent[i] != i:</a:t>
            </a:r>
            <a:br>
              <a:rPr lang="zh-TW"/>
            </a:br>
            <a:r>
              <a:rPr lang="zh-TW"/>
              <a:t>		parent[i] = find(parent[i])</a:t>
            </a:r>
            <a:br>
              <a:rPr lang="zh-TW"/>
            </a:br>
            <a:r>
              <a:rPr lang="zh-TW"/>
              <a:t>	return parent[i]</a:t>
            </a:r>
            <a:br>
              <a:rPr lang="zh-TW"/>
            </a:br>
            <a:br>
              <a:rPr lang="zh-TW"/>
            </a:br>
            <a:r>
              <a:rPr lang="zh-TW"/>
              <a:t>def union(i, j)</a:t>
            </a:r>
            <a:br>
              <a:rPr lang="zh-TW"/>
            </a:br>
            <a:r>
              <a:rPr lang="zh-TW"/>
              <a:t>	root_i = find(i)</a:t>
            </a:r>
            <a:br>
              <a:rPr lang="zh-TW"/>
            </a:br>
            <a:r>
              <a:rPr lang="zh-TW"/>
              <a:t>	root_j = find(j)</a:t>
            </a:r>
            <a:br>
              <a:rPr lang="zh-TW"/>
            </a:br>
            <a:r>
              <a:rPr lang="zh-TW"/>
              <a:t>	if root_i == root_j:</a:t>
            </a:r>
            <a:br>
              <a:rPr lang="zh-TW"/>
            </a:br>
            <a:r>
              <a:rPr lang="zh-TW"/>
              <a:t>		return False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parent[find(j)] = find(i)</a:t>
            </a:r>
            <a:br>
              <a:rPr lang="zh-TW"/>
            </a:br>
            <a:r>
              <a:rPr lang="zh-TW"/>
              <a:t>		return True</a:t>
            </a:r>
            <a:endParaRPr/>
          </a:p>
        </p:txBody>
      </p:sp>
      <p:sp>
        <p:nvSpPr>
          <p:cNvPr id="305" name="Google Shape;305;p40"/>
          <p:cNvSpPr txBox="1"/>
          <p:nvPr>
            <p:ph idx="2" type="body"/>
          </p:nvPr>
        </p:nvSpPr>
        <p:spPr>
          <a:xfrm>
            <a:off x="4203725" y="980200"/>
            <a:ext cx="4668600" cy="39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edges.sort(key=lambda edge: edge[2])   </a:t>
            </a:r>
            <a:r>
              <a:rPr lang="zh-TW">
                <a:solidFill>
                  <a:srgbClr val="FF0000"/>
                </a:solidFill>
              </a:rPr>
              <a:t># sort by cost</a:t>
            </a:r>
            <a:br>
              <a:rPr lang="zh-TW">
                <a:solidFill>
                  <a:srgbClr val="FF0000"/>
                </a:solidFill>
              </a:rPr>
            </a:br>
            <a:br>
              <a:rPr lang="zh-TW"/>
            </a:br>
            <a:r>
              <a:rPr lang="zh-TW"/>
              <a:t>edge_count = 0</a:t>
            </a:r>
            <a:br>
              <a:rPr lang="zh-TW"/>
            </a:br>
            <a:r>
              <a:rPr lang="zh-TW"/>
              <a:t>min_cost = 0</a:t>
            </a:r>
            <a:br>
              <a:rPr lang="zh-TW"/>
            </a:br>
            <a:r>
              <a:rPr lang="zh-TW"/>
              <a:t>for u, v, cost in edges:</a:t>
            </a:r>
            <a:br>
              <a:rPr lang="zh-TW"/>
            </a:br>
            <a:r>
              <a:rPr lang="zh-TW"/>
              <a:t>	if not union(u, v):</a:t>
            </a:r>
            <a:br>
              <a:rPr lang="zh-TW"/>
            </a:br>
            <a:r>
              <a:rPr lang="zh-TW"/>
              <a:t>		min_cost += cost</a:t>
            </a:r>
            <a:br>
              <a:rPr lang="zh-TW"/>
            </a:br>
            <a:r>
              <a:rPr lang="zh-TW"/>
              <a:t>		edge_count += 1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if edge_count == n - 1:  </a:t>
            </a:r>
            <a:r>
              <a:rPr lang="zh-TW">
                <a:solidFill>
                  <a:srgbClr val="FF0000"/>
                </a:solidFill>
              </a:rPr>
              <a:t># connected n node with n-1 edges</a:t>
            </a:r>
            <a:br>
              <a:rPr lang="zh-TW">
                <a:solidFill>
                  <a:srgbClr val="FF0000"/>
                </a:solidFill>
              </a:rPr>
            </a:br>
            <a:r>
              <a:rPr lang="zh-TW"/>
              <a:t>		break</a:t>
            </a:r>
            <a:br>
              <a:rPr lang="zh-TW"/>
            </a:br>
            <a:br>
              <a:rPr lang="zh-TW"/>
            </a:br>
            <a:r>
              <a:rPr lang="zh-TW"/>
              <a:t>return min_cost if edge_count == n - 1 else -1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819150" y="2797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Minimum Spanning Tree (Prim’s)</a:t>
            </a:r>
            <a:endParaRPr/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404200" y="1071150"/>
            <a:ext cx="8346900" cy="3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Heap + BFS, Time complexity = O(E log V), Space complexity = O(V + E)</a:t>
            </a:r>
            <a:br>
              <a:rPr lang="zh-TW"/>
            </a:br>
            <a:r>
              <a:rPr lang="zh-TW"/>
              <a:t>heap = [(0, 0)] # (cost, node)</a:t>
            </a:r>
            <a:br>
              <a:rPr lang="zh-TW"/>
            </a:br>
            <a:r>
              <a:rPr lang="zh-TW"/>
              <a:t>min_cost = 0</a:t>
            </a:r>
            <a:br>
              <a:rPr lang="zh-TW"/>
            </a:br>
            <a:r>
              <a:rPr lang="zh-TW"/>
              <a:t>visited = [False] * n</a:t>
            </a:r>
            <a:br>
              <a:rPr lang="zh-TW"/>
            </a:br>
            <a:r>
              <a:rPr lang="zh-TW"/>
              <a:t>while</a:t>
            </a:r>
            <a:r>
              <a:rPr lang="zh-TW"/>
              <a:t> heap:</a:t>
            </a:r>
            <a:br>
              <a:rPr lang="zh-TW"/>
            </a:br>
            <a:r>
              <a:rPr lang="zh-TW"/>
              <a:t>	cost, node = heapq.heappop(heap)</a:t>
            </a:r>
            <a:br>
              <a:rPr lang="zh-TW"/>
            </a:br>
            <a:r>
              <a:rPr lang="zh-TW"/>
              <a:t>	if visited[node]:  </a:t>
            </a:r>
            <a:r>
              <a:rPr lang="zh-TW">
                <a:solidFill>
                  <a:srgbClr val="FF0000"/>
                </a:solidFill>
              </a:rPr>
              <a:t># visited means the node has already been added with the minimum cost</a:t>
            </a:r>
            <a:br>
              <a:rPr lang="zh-TW"/>
            </a:br>
            <a:r>
              <a:rPr lang="zh-TW"/>
              <a:t>		continue</a:t>
            </a:r>
            <a:br>
              <a:rPr lang="zh-TW"/>
            </a:br>
            <a:br>
              <a:rPr lang="zh-TW"/>
            </a:br>
            <a:r>
              <a:rPr lang="zh-TW"/>
              <a:t>	visited[node] = True </a:t>
            </a:r>
            <a:r>
              <a:rPr lang="zh-TW">
                <a:solidFill>
                  <a:srgbClr val="FF0000"/>
                </a:solidFill>
              </a:rPr>
              <a:t> </a:t>
            </a:r>
            <a:r>
              <a:rPr lang="zh-TW">
                <a:solidFill>
                  <a:srgbClr val="FF0000"/>
                </a:solidFill>
              </a:rPr>
              <a:t># position different from regular BFS. A node can be visited multiple time (with different cost)</a:t>
            </a:r>
            <a:br>
              <a:rPr lang="zh-TW">
                <a:solidFill>
                  <a:srgbClr val="FF0000"/>
                </a:solidFill>
              </a:rPr>
            </a:br>
            <a:r>
              <a:rPr lang="zh-TW"/>
              <a:t>	min_cost += cost</a:t>
            </a:r>
            <a:br>
              <a:rPr lang="zh-TW"/>
            </a:br>
            <a:br>
              <a:rPr lang="zh-TW"/>
            </a:br>
            <a:r>
              <a:rPr lang="zh-TW"/>
              <a:t>	for next_node, next_cost in </a:t>
            </a:r>
            <a:r>
              <a:rPr lang="zh-TW"/>
              <a:t>graph</a:t>
            </a:r>
            <a:r>
              <a:rPr lang="zh-TW"/>
              <a:t>[node]:</a:t>
            </a:r>
            <a:br>
              <a:rPr lang="zh-TW"/>
            </a:br>
            <a:r>
              <a:rPr lang="zh-TW"/>
              <a:t>		if not visited[next_node]:</a:t>
            </a:r>
            <a:br>
              <a:rPr lang="zh-TW"/>
            </a:br>
            <a:r>
              <a:rPr lang="zh-TW"/>
              <a:t>			heapq.heappush(heap, (next_cost, next_node))</a:t>
            </a:r>
            <a:br>
              <a:rPr lang="zh-TW"/>
            </a:br>
            <a:br>
              <a:rPr lang="zh-TW"/>
            </a:br>
            <a:r>
              <a:rPr lang="zh-TW"/>
              <a:t>return min_cost if all(visited) else -1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Bellman-Ford</a:t>
            </a:r>
            <a:endParaRPr/>
          </a:p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819150" y="1556175"/>
            <a:ext cx="7505700" cy="28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Time complexity = O(V*E), Space complexity = O(V)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# Can handle negative weight and detect negative cycle</a:t>
            </a:r>
            <a:br>
              <a:rPr lang="zh-TW"/>
            </a:br>
            <a:r>
              <a:rPr lang="zh-TW"/>
              <a:t>dist = [math.inf] * n</a:t>
            </a:r>
            <a:br>
              <a:rPr lang="zh-TW"/>
            </a:br>
            <a:r>
              <a:rPr lang="zh-TW"/>
              <a:t>dist[src] = 0</a:t>
            </a:r>
            <a:br>
              <a:rPr lang="zh-TW"/>
            </a:br>
            <a:r>
              <a:rPr lang="zh-TW"/>
              <a:t>for i in range(n-1):</a:t>
            </a:r>
            <a:br>
              <a:rPr lang="zh-TW"/>
            </a:br>
            <a:r>
              <a:rPr lang="zh-TW"/>
              <a:t>	for u, v, w in edges:</a:t>
            </a:r>
            <a:br>
              <a:rPr lang="zh-TW"/>
            </a:br>
            <a:r>
              <a:rPr lang="zh-TW"/>
              <a:t>		if dist[u] + w &lt; dist[v]:</a:t>
            </a:r>
            <a:br>
              <a:rPr lang="zh-TW"/>
            </a:br>
            <a:r>
              <a:rPr lang="zh-TW"/>
              <a:t>			dist[v] = dist[u] + w</a:t>
            </a:r>
            <a:br>
              <a:rPr lang="zh-TW"/>
            </a:br>
            <a:br>
              <a:rPr lang="zh-TW"/>
            </a:br>
            <a:r>
              <a:rPr lang="zh-TW"/>
              <a:t>for u, v, w in edges:</a:t>
            </a:r>
            <a:br>
              <a:rPr lang="zh-TW"/>
            </a:br>
            <a:r>
              <a:rPr lang="zh-TW"/>
              <a:t>	if dist[u] + w &lt; dist[v]:</a:t>
            </a:r>
            <a:br>
              <a:rPr lang="zh-TW"/>
            </a:br>
            <a:r>
              <a:rPr lang="zh-TW"/>
              <a:t>		return -1 # negative cycle happens</a:t>
            </a:r>
            <a:br>
              <a:rPr lang="zh-TW"/>
            </a:br>
            <a:br>
              <a:rPr lang="zh-TW"/>
            </a:br>
            <a:r>
              <a:rPr lang="zh-TW">
                <a:solidFill>
                  <a:srgbClr val="FF0000"/>
                </a:solidFill>
              </a:rPr>
              <a:t># dist[node] is the minimum distance from src to node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Binary Search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Binary search</a:t>
            </a:r>
            <a:endParaRPr/>
          </a:p>
        </p:txBody>
      </p:sp>
      <p:sp>
        <p:nvSpPr>
          <p:cNvPr id="328" name="Google Shape;328;p4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left, right = 0, len(nums) - 1</a:t>
            </a:r>
            <a:br>
              <a:rPr lang="zh-TW"/>
            </a:br>
            <a:r>
              <a:rPr lang="zh-TW"/>
              <a:t>while left &lt;= right:</a:t>
            </a:r>
            <a:br>
              <a:rPr lang="zh-TW"/>
            </a:br>
            <a:r>
              <a:rPr lang="zh-TW"/>
              <a:t>	mid = left + (right - left) // 2</a:t>
            </a:r>
            <a:br>
              <a:rPr lang="zh-TW"/>
            </a:br>
            <a:r>
              <a:rPr lang="zh-TW"/>
              <a:t>	if nums[mid] == target:</a:t>
            </a:r>
            <a:br>
              <a:rPr lang="zh-TW"/>
            </a:br>
            <a:r>
              <a:rPr lang="zh-TW"/>
              <a:t>		</a:t>
            </a:r>
            <a:r>
              <a:rPr lang="zh-TW"/>
              <a:t>return mid</a:t>
            </a:r>
            <a:br>
              <a:rPr lang="zh-TW"/>
            </a:br>
            <a:r>
              <a:rPr lang="zh-TW"/>
              <a:t>	elif nums[mid] &lt; target:</a:t>
            </a:r>
            <a:br>
              <a:rPr lang="zh-TW"/>
            </a:br>
            <a:r>
              <a:rPr lang="zh-TW"/>
              <a:t>		left = mid + 1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right = mid - 1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Lower Bound / bisect.bisect_left</a:t>
            </a:r>
            <a:endParaRPr/>
          </a:p>
        </p:txBody>
      </p:sp>
      <p:sp>
        <p:nvSpPr>
          <p:cNvPr id="334" name="Google Shape;334;p4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left, right = 0, len(nums)  </a:t>
            </a:r>
            <a:r>
              <a:rPr lang="zh-TW">
                <a:solidFill>
                  <a:srgbClr val="FF0000"/>
                </a:solidFill>
              </a:rPr>
              <a:t># ! boundary is different from regular BS</a:t>
            </a:r>
            <a:br>
              <a:rPr lang="zh-TW"/>
            </a:br>
            <a:r>
              <a:rPr lang="zh-TW"/>
              <a:t>while left &lt; right:   </a:t>
            </a:r>
            <a:r>
              <a:rPr lang="zh-TW">
                <a:solidFill>
                  <a:srgbClr val="FF0000"/>
                </a:solidFill>
              </a:rPr>
              <a:t># ! using  ‘&lt;’, not ‘&lt;=’</a:t>
            </a:r>
            <a:br>
              <a:rPr lang="zh-TW"/>
            </a:br>
            <a:r>
              <a:rPr lang="zh-TW"/>
              <a:t>	mid = left + (right - left) // 2</a:t>
            </a:r>
            <a:br>
              <a:rPr lang="zh-TW"/>
            </a:br>
            <a:r>
              <a:rPr lang="zh-TW"/>
              <a:t>	if nums[mid] &lt; target:</a:t>
            </a:r>
            <a:r>
              <a:rPr lang="zh-TW"/>
              <a:t>    </a:t>
            </a:r>
            <a:r>
              <a:rPr lang="zh-TW">
                <a:solidFill>
                  <a:srgbClr val="FF0000"/>
                </a:solidFill>
              </a:rPr>
              <a:t># finally nums[left] &gt;= target</a:t>
            </a:r>
            <a:br>
              <a:rPr lang="zh-TW"/>
            </a:br>
            <a:r>
              <a:rPr lang="zh-TW"/>
              <a:t>		left = mid + 1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right = mid</a:t>
            </a:r>
            <a:br>
              <a:rPr lang="zh-TW"/>
            </a:br>
            <a:br>
              <a:rPr lang="zh-TW"/>
            </a:br>
            <a:r>
              <a:rPr lang="zh-TW"/>
              <a:t>return left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Upper Bound / bisect.bisect_right</a:t>
            </a:r>
            <a:endParaRPr/>
          </a:p>
        </p:txBody>
      </p:sp>
      <p:sp>
        <p:nvSpPr>
          <p:cNvPr id="340" name="Google Shape;340;p4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left, right = 0, len(nums)  </a:t>
            </a:r>
            <a:r>
              <a:rPr lang="zh-TW">
                <a:solidFill>
                  <a:srgbClr val="FF0000"/>
                </a:solidFill>
              </a:rPr>
              <a:t># ! boundary is different from regular BS</a:t>
            </a:r>
            <a:br>
              <a:rPr lang="zh-TW"/>
            </a:br>
            <a:r>
              <a:rPr lang="zh-TW"/>
              <a:t>while left &lt; right:   </a:t>
            </a:r>
            <a:r>
              <a:rPr lang="zh-TW">
                <a:solidFill>
                  <a:srgbClr val="FF0000"/>
                </a:solidFill>
              </a:rPr>
              <a:t># ! using  ‘&lt;’, not ‘&lt;=’</a:t>
            </a:r>
            <a:br>
              <a:rPr lang="zh-TW">
                <a:solidFill>
                  <a:srgbClr val="FF0000"/>
                </a:solidFill>
              </a:rPr>
            </a:br>
            <a:r>
              <a:rPr lang="zh-TW"/>
              <a:t>	mid = left + (right - left) // 2</a:t>
            </a:r>
            <a:br>
              <a:rPr lang="zh-TW"/>
            </a:br>
            <a:r>
              <a:rPr lang="zh-TW"/>
              <a:t>	if nums[mid] &lt;= target:  </a:t>
            </a:r>
            <a:r>
              <a:rPr lang="zh-TW">
                <a:solidFill>
                  <a:srgbClr val="FF0000"/>
                </a:solidFill>
              </a:rPr>
              <a:t># finally nums[left] &gt; target</a:t>
            </a:r>
            <a:br>
              <a:rPr lang="zh-TW">
                <a:solidFill>
                  <a:srgbClr val="FF0000"/>
                </a:solidFill>
              </a:rPr>
            </a:br>
            <a:r>
              <a:rPr lang="zh-TW"/>
              <a:t>		left = mid + 1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right = mid</a:t>
            </a:r>
            <a:br>
              <a:rPr lang="zh-TW"/>
            </a:br>
            <a:br>
              <a:rPr lang="zh-TW"/>
            </a:br>
            <a:r>
              <a:rPr lang="zh-TW"/>
              <a:t>return left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>
            <p:ph type="title"/>
          </p:nvPr>
        </p:nvSpPr>
        <p:spPr>
          <a:xfrm>
            <a:off x="819150" y="1887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Binary Search on Rotated Array</a:t>
            </a:r>
            <a:endParaRPr/>
          </a:p>
        </p:txBody>
      </p:sp>
      <p:sp>
        <p:nvSpPr>
          <p:cNvPr id="346" name="Google Shape;346;p47"/>
          <p:cNvSpPr txBox="1"/>
          <p:nvPr>
            <p:ph idx="1" type="body"/>
          </p:nvPr>
        </p:nvSpPr>
        <p:spPr>
          <a:xfrm>
            <a:off x="819150" y="828625"/>
            <a:ext cx="3686100" cy="4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values in nums are </a:t>
            </a:r>
            <a:r>
              <a:rPr lang="zh-TW">
                <a:solidFill>
                  <a:srgbClr val="FF0000"/>
                </a:solidFill>
              </a:rPr>
              <a:t>uniuqe</a:t>
            </a:r>
            <a:br>
              <a:rPr lang="zh-TW"/>
            </a:br>
            <a:r>
              <a:rPr lang="zh-TW"/>
              <a:t>left, right = 0, len(nums) - 1</a:t>
            </a:r>
            <a:br>
              <a:rPr lang="zh-TW"/>
            </a:br>
            <a:r>
              <a:rPr lang="zh-TW"/>
              <a:t>while left &lt;= right:</a:t>
            </a:r>
            <a:br>
              <a:rPr lang="zh-TW"/>
            </a:br>
            <a:r>
              <a:rPr lang="zh-TW"/>
              <a:t>	mid = left + (right - left) // 2</a:t>
            </a:r>
            <a:br>
              <a:rPr lang="zh-TW"/>
            </a:br>
            <a:r>
              <a:rPr lang="zh-TW"/>
              <a:t>	if nums[mid] == target:</a:t>
            </a:r>
            <a:br>
              <a:rPr lang="zh-TW"/>
            </a:br>
            <a:r>
              <a:rPr lang="zh-TW"/>
              <a:t>		return mid</a:t>
            </a:r>
            <a:br>
              <a:rPr lang="zh-TW"/>
            </a:br>
            <a:br>
              <a:rPr lang="zh-TW"/>
            </a:br>
            <a:r>
              <a:rPr lang="zh-TW"/>
              <a:t>	# left side is sorted</a:t>
            </a:r>
            <a:br>
              <a:rPr lang="zh-TW"/>
            </a:br>
            <a:r>
              <a:rPr lang="zh-TW"/>
              <a:t>	if nums[left] &lt; nums[mid]:</a:t>
            </a:r>
            <a:br>
              <a:rPr lang="zh-TW"/>
            </a:br>
            <a:r>
              <a:rPr lang="zh-TW"/>
              <a:t>		if nums[left] &lt;= target &lt; nums[mid]:</a:t>
            </a:r>
            <a:br>
              <a:rPr lang="zh-TW"/>
            </a:br>
            <a:r>
              <a:rPr lang="zh-TW"/>
              <a:t>			right = mid - 1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left = mid + 1</a:t>
            </a:r>
            <a:br>
              <a:rPr lang="zh-TW"/>
            </a:br>
            <a:r>
              <a:rPr lang="zh-TW"/>
              <a:t>	else: # right side is sorted</a:t>
            </a:r>
            <a:br>
              <a:rPr lang="zh-TW"/>
            </a:br>
            <a:r>
              <a:rPr lang="zh-TW"/>
              <a:t>		if nums[mid] &lt; target &lt;= nums[right]:</a:t>
            </a:r>
            <a:br>
              <a:rPr lang="zh-TW"/>
            </a:br>
            <a:r>
              <a:rPr lang="zh-TW"/>
              <a:t>			left = mid + 1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right = mid - 1</a:t>
            </a:r>
            <a:endParaRPr/>
          </a:p>
        </p:txBody>
      </p:sp>
      <p:sp>
        <p:nvSpPr>
          <p:cNvPr id="347" name="Google Shape;347;p47"/>
          <p:cNvSpPr txBox="1"/>
          <p:nvPr>
            <p:ph idx="2" type="body"/>
          </p:nvPr>
        </p:nvSpPr>
        <p:spPr>
          <a:xfrm>
            <a:off x="4638750" y="828625"/>
            <a:ext cx="3686100" cy="4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values in nums are </a:t>
            </a:r>
            <a:r>
              <a:rPr lang="zh-TW">
                <a:solidFill>
                  <a:srgbClr val="FF0000"/>
                </a:solidFill>
              </a:rPr>
              <a:t>not uniuqe, worst case O(N)</a:t>
            </a:r>
            <a:br>
              <a:rPr lang="zh-TW"/>
            </a:br>
            <a:r>
              <a:rPr lang="zh-TW"/>
              <a:t>left, right = 0, len(nums) - 1</a:t>
            </a:r>
            <a:br>
              <a:rPr lang="zh-TW"/>
            </a:br>
            <a:r>
              <a:rPr lang="zh-TW"/>
              <a:t>while left &lt;= right:</a:t>
            </a:r>
            <a:br>
              <a:rPr lang="zh-TW"/>
            </a:br>
            <a:r>
              <a:rPr lang="zh-TW"/>
              <a:t>	mid = left + (right - left) // 2</a:t>
            </a:r>
            <a:br>
              <a:rPr lang="zh-TW"/>
            </a:br>
            <a:r>
              <a:rPr lang="zh-TW"/>
              <a:t>	if nums[mid] == target:</a:t>
            </a:r>
            <a:br>
              <a:rPr lang="zh-TW"/>
            </a:br>
            <a:r>
              <a:rPr lang="zh-TW"/>
              <a:t>		return mid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</a:t>
            </a:r>
            <a:r>
              <a:rPr lang="zh-TW">
                <a:solidFill>
                  <a:srgbClr val="FF0000"/>
                </a:solidFill>
              </a:rPr>
              <a:t>while left &lt; mid and nums[left] == nums[mid]: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		left += 1</a:t>
            </a:r>
            <a:br>
              <a:rPr lang="zh-TW"/>
            </a:br>
            <a:br>
              <a:rPr lang="zh-TW"/>
            </a:br>
            <a:r>
              <a:rPr lang="zh-TW"/>
              <a:t>	if nums[left] &lt; nums[mid]: # left side is sorted</a:t>
            </a:r>
            <a:br>
              <a:rPr lang="zh-TW"/>
            </a:br>
            <a:r>
              <a:rPr lang="zh-TW"/>
              <a:t>		if nums[left] &lt;= target &lt; nums[mid]:</a:t>
            </a:r>
            <a:br>
              <a:rPr lang="zh-TW"/>
            </a:br>
            <a:r>
              <a:rPr lang="zh-TW"/>
              <a:t>			right = mid - 1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left = mid + 1</a:t>
            </a:r>
            <a:br>
              <a:rPr lang="zh-TW"/>
            </a:br>
            <a:r>
              <a:rPr lang="zh-TW"/>
              <a:t>	else:  # right side is sorted</a:t>
            </a:r>
            <a:br>
              <a:rPr lang="zh-TW"/>
            </a:br>
            <a:r>
              <a:rPr lang="zh-TW"/>
              <a:t>		if nums[mid] &lt; target &lt;= nums[right]:</a:t>
            </a:r>
            <a:br>
              <a:rPr lang="zh-TW"/>
            </a:br>
            <a:r>
              <a:rPr lang="zh-TW"/>
              <a:t>			left = mid + 1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right = mid - 1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 Solution Spaces</a:t>
            </a:r>
            <a:endParaRPr/>
          </a:p>
        </p:txBody>
      </p:sp>
      <p:sp>
        <p:nvSpPr>
          <p:cNvPr id="353" name="Google Shape;353;p4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With Dynamic Programming</a:t>
            </a:r>
            <a:endParaRPr/>
          </a:p>
        </p:txBody>
      </p:sp>
      <p:sp>
        <p:nvSpPr>
          <p:cNvPr id="359" name="Google Shape;359;p4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Interval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 txBox="1"/>
          <p:nvPr>
            <p:ph type="title"/>
          </p:nvPr>
        </p:nvSpPr>
        <p:spPr>
          <a:xfrm>
            <a:off x="505250" y="845600"/>
            <a:ext cx="3686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Merge Interval</a:t>
            </a:r>
            <a:endParaRPr/>
          </a:p>
        </p:txBody>
      </p:sp>
      <p:sp>
        <p:nvSpPr>
          <p:cNvPr id="370" name="Google Shape;370;p51"/>
          <p:cNvSpPr txBox="1"/>
          <p:nvPr>
            <p:ph idx="1" type="body"/>
          </p:nvPr>
        </p:nvSpPr>
        <p:spPr>
          <a:xfrm>
            <a:off x="505250" y="1990725"/>
            <a:ext cx="46686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merge(intervals):</a:t>
            </a:r>
            <a:br>
              <a:rPr lang="zh-TW"/>
            </a:br>
            <a:r>
              <a:rPr lang="zh-TW"/>
              <a:t>	merge = []</a:t>
            </a:r>
            <a:br>
              <a:rPr lang="zh-TW"/>
            </a:br>
            <a:r>
              <a:rPr lang="zh-TW"/>
              <a:t>	intervals.sort()</a:t>
            </a:r>
            <a:br>
              <a:rPr lang="zh-TW"/>
            </a:br>
            <a:r>
              <a:rPr lang="zh-TW"/>
              <a:t>	for interval in intervals:</a:t>
            </a:r>
            <a:br>
              <a:rPr lang="zh-TW"/>
            </a:br>
            <a:r>
              <a:rPr lang="zh-TW"/>
              <a:t>		if not merge or merge[-1][1] &lt; interval[0]:</a:t>
            </a:r>
            <a:br>
              <a:rPr lang="zh-TW"/>
            </a:br>
            <a:r>
              <a:rPr lang="zh-TW"/>
              <a:t>			merge.append(interval)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merge[-1][1] = max(merge[-1][1], interval[1])</a:t>
            </a:r>
            <a:br>
              <a:rPr lang="zh-TW"/>
            </a:br>
            <a:r>
              <a:rPr lang="zh-TW"/>
              <a:t>	return merge</a:t>
            </a:r>
            <a:endParaRPr/>
          </a:p>
        </p:txBody>
      </p:sp>
      <p:sp>
        <p:nvSpPr>
          <p:cNvPr id="371" name="Google Shape;371;p51"/>
          <p:cNvSpPr txBox="1"/>
          <p:nvPr>
            <p:ph idx="2" type="body"/>
          </p:nvPr>
        </p:nvSpPr>
        <p:spPr>
          <a:xfrm>
            <a:off x="52482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eraseOverlapIntervals(intervals):</a:t>
            </a:r>
            <a:br>
              <a:rPr lang="zh-TW"/>
            </a:br>
            <a:r>
              <a:rPr lang="zh-TW"/>
              <a:t>	intervals.sort(key=lambda x: x[1]) </a:t>
            </a:r>
            <a:r>
              <a:rPr lang="zh-TW">
                <a:solidFill>
                  <a:srgbClr val="FF0000"/>
                </a:solidFill>
              </a:rPr>
              <a:t># faster</a:t>
            </a:r>
            <a:br>
              <a:rPr lang="zh-TW"/>
            </a:br>
            <a:r>
              <a:rPr lang="zh-TW"/>
              <a:t>	count = 0</a:t>
            </a:r>
            <a:br>
              <a:rPr lang="zh-TW"/>
            </a:br>
            <a:r>
              <a:rPr lang="zh-TW"/>
              <a:t>	end = intervals[0][1]</a:t>
            </a:r>
            <a:br>
              <a:rPr lang="zh-TW"/>
            </a:br>
            <a:r>
              <a:rPr lang="zh-TW"/>
              <a:t>	for interval in intervals[1:]:</a:t>
            </a:r>
            <a:br>
              <a:rPr lang="zh-TW"/>
            </a:br>
            <a:r>
              <a:rPr lang="zh-TW"/>
              <a:t>		if end &lt;= interval[0]:</a:t>
            </a:r>
            <a:br>
              <a:rPr lang="zh-TW"/>
            </a:br>
            <a:r>
              <a:rPr lang="zh-TW"/>
              <a:t>			end = interval[1]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</a:t>
            </a:r>
            <a:r>
              <a:rPr lang="zh-TW"/>
              <a:t>count += 1</a:t>
            </a:r>
            <a:br>
              <a:rPr lang="zh-TW"/>
            </a:br>
            <a:r>
              <a:rPr lang="zh-TW"/>
              <a:t>	return count</a:t>
            </a:r>
            <a:endParaRPr/>
          </a:p>
        </p:txBody>
      </p:sp>
      <p:sp>
        <p:nvSpPr>
          <p:cNvPr id="372" name="Google Shape;372;p51"/>
          <p:cNvSpPr txBox="1"/>
          <p:nvPr>
            <p:ph type="title"/>
          </p:nvPr>
        </p:nvSpPr>
        <p:spPr>
          <a:xfrm>
            <a:off x="5248275" y="845600"/>
            <a:ext cx="36861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n</a:t>
            </a:r>
            <a:r>
              <a:rPr lang="zh-TW"/>
              <a:t>on-overlapping Interval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Number of Max Overlap Intervals</a:t>
            </a:r>
            <a:endParaRPr/>
          </a:p>
        </p:txBody>
      </p:sp>
      <p:sp>
        <p:nvSpPr>
          <p:cNvPr id="378" name="Google Shape;378;p52"/>
          <p:cNvSpPr txBox="1"/>
          <p:nvPr>
            <p:ph idx="1" type="body"/>
          </p:nvPr>
        </p:nvSpPr>
        <p:spPr>
          <a:xfrm>
            <a:off x="819150" y="1800200"/>
            <a:ext cx="36861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Line sweep: O(N log N)</a:t>
            </a:r>
            <a:br>
              <a:rPr lang="zh-TW"/>
            </a:br>
            <a:r>
              <a:rPr lang="zh-TW"/>
              <a:t>def maxOverlapIntervals(intervals):</a:t>
            </a:r>
            <a:br>
              <a:rPr lang="zh-TW"/>
            </a:br>
            <a:r>
              <a:rPr lang="zh-TW"/>
              <a:t>	events = []</a:t>
            </a:r>
            <a:br>
              <a:rPr lang="zh-TW"/>
            </a:br>
            <a:r>
              <a:rPr lang="zh-TW"/>
              <a:t>	for start, end </a:t>
            </a:r>
            <a:r>
              <a:rPr lang="zh-TW"/>
              <a:t>in</a:t>
            </a:r>
            <a:r>
              <a:rPr lang="zh-TW"/>
              <a:t> intervals:</a:t>
            </a:r>
            <a:br>
              <a:rPr lang="zh-TW"/>
            </a:br>
            <a:r>
              <a:rPr lang="zh-TW"/>
              <a:t>		events.append((start, 1))</a:t>
            </a:r>
            <a:br>
              <a:rPr lang="zh-TW"/>
            </a:br>
            <a:r>
              <a:rPr lang="zh-TW"/>
              <a:t>		events.append((end, -1))</a:t>
            </a:r>
            <a:br>
              <a:rPr lang="zh-TW"/>
            </a:br>
            <a:r>
              <a:rPr lang="zh-TW"/>
              <a:t>	events.sort()</a:t>
            </a:r>
            <a:br>
              <a:rPr lang="zh-TW"/>
            </a:br>
            <a:r>
              <a:rPr lang="zh-TW"/>
              <a:t>	count, max_count = 0, 0</a:t>
            </a:r>
            <a:br>
              <a:rPr lang="zh-TW"/>
            </a:br>
            <a:r>
              <a:rPr lang="zh-TW"/>
              <a:t>	for </a:t>
            </a:r>
            <a:r>
              <a:rPr lang="zh-TW"/>
              <a:t>_</a:t>
            </a:r>
            <a:r>
              <a:rPr lang="zh-TW"/>
              <a:t>, val in events:</a:t>
            </a:r>
            <a:br>
              <a:rPr lang="zh-TW"/>
            </a:br>
            <a:r>
              <a:rPr lang="zh-TW"/>
              <a:t>		count += val</a:t>
            </a:r>
            <a:br>
              <a:rPr lang="zh-TW"/>
            </a:br>
            <a:r>
              <a:rPr lang="zh-TW"/>
              <a:t>		max</a:t>
            </a:r>
            <a:r>
              <a:rPr lang="zh-TW"/>
              <a:t>_count = max(count, max_count)</a:t>
            </a:r>
            <a:br>
              <a:rPr lang="zh-TW"/>
            </a:br>
            <a:br>
              <a:rPr lang="zh-TW"/>
            </a:br>
            <a:r>
              <a:rPr lang="zh-TW"/>
              <a:t>	return max_count</a:t>
            </a:r>
            <a:endParaRPr/>
          </a:p>
        </p:txBody>
      </p:sp>
      <p:sp>
        <p:nvSpPr>
          <p:cNvPr id="379" name="Google Shape;379;p52"/>
          <p:cNvSpPr txBox="1"/>
          <p:nvPr>
            <p:ph idx="2" type="body"/>
          </p:nvPr>
        </p:nvSpPr>
        <p:spPr>
          <a:xfrm>
            <a:off x="4638675" y="1758300"/>
            <a:ext cx="3686100" cy="26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Heap: O(N log N)</a:t>
            </a:r>
            <a:br>
              <a:rPr lang="zh-TW"/>
            </a:br>
            <a:r>
              <a:rPr lang="zh-TW"/>
              <a:t>def maxOverlapIntervals(intervals):</a:t>
            </a:r>
            <a:br>
              <a:rPr lang="zh-TW"/>
            </a:br>
            <a:r>
              <a:rPr lang="zh-TW"/>
              <a:t>	intervals.sort()</a:t>
            </a:r>
            <a:br>
              <a:rPr lang="zh-TW"/>
            </a:br>
            <a:r>
              <a:rPr lang="zh-TW"/>
              <a:t>	heap = []</a:t>
            </a:r>
            <a:br>
              <a:rPr lang="zh-TW"/>
            </a:br>
            <a:r>
              <a:rPr lang="zh-TW"/>
              <a:t>	for start, end in intervals:</a:t>
            </a:r>
            <a:br>
              <a:rPr lang="zh-TW"/>
            </a:br>
            <a:r>
              <a:rPr lang="zh-TW"/>
              <a:t>		if heap and heap[0] &lt;= start:</a:t>
            </a:r>
            <a:br>
              <a:rPr lang="zh-TW"/>
            </a:br>
            <a:r>
              <a:rPr lang="zh-TW"/>
              <a:t>			heapq.heappop(heap)</a:t>
            </a:r>
            <a:br>
              <a:rPr lang="zh-TW"/>
            </a:br>
            <a:br>
              <a:rPr lang="zh-TW"/>
            </a:br>
            <a:r>
              <a:rPr lang="zh-TW"/>
              <a:t>		heapq.heappush(heap, end)</a:t>
            </a:r>
            <a:br>
              <a:rPr lang="zh-TW"/>
            </a:br>
            <a:br>
              <a:rPr lang="zh-TW"/>
            </a:br>
            <a:r>
              <a:rPr lang="zh-TW"/>
              <a:t>	return len(heap)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type="title"/>
          </p:nvPr>
        </p:nvSpPr>
        <p:spPr>
          <a:xfrm>
            <a:off x="819150" y="298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Min number of intervals to cover time</a:t>
            </a:r>
            <a:endParaRPr/>
          </a:p>
        </p:txBody>
      </p:sp>
      <p:sp>
        <p:nvSpPr>
          <p:cNvPr id="385" name="Google Shape;385;p53"/>
          <p:cNvSpPr txBox="1"/>
          <p:nvPr>
            <p:ph idx="1" type="body"/>
          </p:nvPr>
        </p:nvSpPr>
        <p:spPr>
          <a:xfrm>
            <a:off x="819150" y="1253025"/>
            <a:ext cx="7505700" cy="3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intervalCovering(intervals, time) -&gt; int:</a:t>
            </a:r>
            <a:br>
              <a:rPr lang="zh-TW"/>
            </a:br>
            <a:r>
              <a:rPr lang="zh-TW"/>
              <a:t>	intervals.sort() </a:t>
            </a:r>
            <a:r>
              <a:rPr lang="zh-TW">
                <a:solidFill>
                  <a:srgbClr val="FF0000"/>
                </a:solidFill>
              </a:rPr>
              <a:t> # O(N log N)</a:t>
            </a:r>
            <a:br>
              <a:rPr lang="zh-TW"/>
            </a:br>
            <a:r>
              <a:rPr lang="zh-TW"/>
              <a:t>	num_intervals = 0</a:t>
            </a:r>
            <a:br>
              <a:rPr lang="zh-TW"/>
            </a:br>
            <a:r>
              <a:rPr lang="zh-TW"/>
              <a:t>	end = 0</a:t>
            </a:r>
            <a:br>
              <a:rPr lang="zh-TW"/>
            </a:br>
            <a:r>
              <a:rPr lang="zh-TW"/>
              <a:t>	i = 0</a:t>
            </a:r>
            <a:br>
              <a:rPr lang="zh-TW"/>
            </a:br>
            <a:r>
              <a:rPr lang="zh-TW"/>
              <a:t>	while end &lt; time:</a:t>
            </a:r>
            <a:br>
              <a:rPr lang="zh-TW"/>
            </a:br>
            <a:r>
              <a:rPr lang="zh-TW"/>
              <a:t>		max_end = end</a:t>
            </a:r>
            <a:br>
              <a:rPr lang="zh-TW"/>
            </a:br>
            <a:r>
              <a:rPr lang="zh-TW"/>
              <a:t>		while i &lt; len(intervals) and intervals[i][0] &lt;= end:</a:t>
            </a:r>
            <a:br>
              <a:rPr lang="zh-TW"/>
            </a:br>
            <a:r>
              <a:rPr lang="zh-TW"/>
              <a:t>			max_end = max(max_end, intervals[i][1])</a:t>
            </a:r>
            <a:br>
              <a:rPr lang="zh-TW"/>
            </a:br>
            <a:r>
              <a:rPr lang="zh-TW"/>
              <a:t>			i += 1</a:t>
            </a:r>
            <a:br>
              <a:rPr lang="zh-TW"/>
            </a:br>
            <a:r>
              <a:rPr lang="zh-TW"/>
              <a:t>		</a:t>
            </a:r>
            <a:br>
              <a:rPr lang="zh-TW"/>
            </a:br>
            <a:r>
              <a:rPr lang="zh-TW"/>
              <a:t>		if max_end == end:</a:t>
            </a:r>
            <a:br>
              <a:rPr lang="zh-TW"/>
            </a:br>
            <a:r>
              <a:rPr lang="zh-TW"/>
              <a:t>			return -1</a:t>
            </a:r>
            <a:br>
              <a:rPr lang="zh-TW"/>
            </a:br>
            <a:r>
              <a:rPr lang="zh-TW"/>
              <a:t>		end = max_end</a:t>
            </a:r>
            <a:br>
              <a:rPr lang="zh-TW"/>
            </a:br>
            <a:r>
              <a:rPr lang="zh-TW"/>
              <a:t>		num_intervals += 1</a:t>
            </a:r>
            <a:br>
              <a:rPr lang="zh-TW"/>
            </a:br>
            <a:br>
              <a:rPr lang="zh-TW"/>
            </a:br>
            <a:r>
              <a:rPr lang="zh-TW"/>
              <a:t>	return num_intervals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Sliding Window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Non-fixed Size Sliding Window</a:t>
            </a:r>
            <a:endParaRPr/>
          </a:p>
        </p:txBody>
      </p:sp>
      <p:sp>
        <p:nvSpPr>
          <p:cNvPr id="396" name="Google Shape;396;p55"/>
          <p:cNvSpPr txBox="1"/>
          <p:nvPr>
            <p:ph idx="1" type="body"/>
          </p:nvPr>
        </p:nvSpPr>
        <p:spPr>
          <a:xfrm>
            <a:off x="819150" y="1515775"/>
            <a:ext cx="7505700" cy="3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find number of subarrays sum up smaller then target</a:t>
            </a:r>
            <a:br>
              <a:rPr lang="zh-TW"/>
            </a:br>
            <a:r>
              <a:rPr lang="zh-TW"/>
              <a:t>left = 0</a:t>
            </a:r>
            <a:br>
              <a:rPr lang="zh-TW"/>
            </a:br>
            <a:r>
              <a:rPr lang="zh-TW"/>
              <a:t>total = 0</a:t>
            </a:r>
            <a:br>
              <a:rPr lang="zh-TW"/>
            </a:br>
            <a:r>
              <a:rPr lang="zh-TW"/>
              <a:t>count = 0</a:t>
            </a:r>
            <a:br>
              <a:rPr lang="zh-TW"/>
            </a:br>
            <a:r>
              <a:rPr lang="zh-TW"/>
              <a:t>for right in range(len(nums)):</a:t>
            </a:r>
            <a:br>
              <a:rPr lang="zh-TW"/>
            </a:br>
            <a:r>
              <a:rPr lang="zh-TW"/>
              <a:t>	# expand</a:t>
            </a:r>
            <a:br>
              <a:rPr lang="zh-TW"/>
            </a:br>
            <a:r>
              <a:rPr lang="zh-TW"/>
              <a:t>	total += nums[right]</a:t>
            </a:r>
            <a:br>
              <a:rPr lang="zh-TW"/>
            </a:br>
            <a:br>
              <a:rPr lang="zh-TW"/>
            </a:br>
            <a:r>
              <a:rPr lang="zh-TW"/>
              <a:t>	# shrink</a:t>
            </a:r>
            <a:br>
              <a:rPr lang="zh-TW"/>
            </a:br>
            <a:r>
              <a:rPr lang="zh-TW"/>
              <a:t>	while total &gt; target:</a:t>
            </a:r>
            <a:br>
              <a:rPr lang="zh-TW"/>
            </a:br>
            <a:r>
              <a:rPr lang="zh-TW"/>
              <a:t>		total -= nums[left]</a:t>
            </a:r>
            <a:br>
              <a:rPr lang="zh-TW"/>
            </a:br>
            <a:r>
              <a:rPr lang="zh-TW"/>
              <a:t>		left += 1</a:t>
            </a:r>
            <a:br>
              <a:rPr lang="zh-TW"/>
            </a:br>
            <a:br>
              <a:rPr lang="zh-TW"/>
            </a:br>
            <a:r>
              <a:rPr lang="zh-TW"/>
              <a:t>	# update</a:t>
            </a:r>
            <a:br>
              <a:rPr lang="zh-TW"/>
            </a:br>
            <a:r>
              <a:rPr lang="zh-TW"/>
              <a:t>		count += (right + 1 - left)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Binary Tree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Breath First Search (BFS)</a:t>
            </a:r>
            <a:endParaRPr/>
          </a:p>
        </p:txBody>
      </p:sp>
      <p:sp>
        <p:nvSpPr>
          <p:cNvPr id="407" name="Google Shape;407;p5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Just traverse</a:t>
            </a:r>
            <a:br>
              <a:rPr lang="zh-TW"/>
            </a:br>
            <a:r>
              <a:rPr lang="zh-TW"/>
              <a:t>queue = deque([root])</a:t>
            </a:r>
            <a:br>
              <a:rPr lang="zh-TW"/>
            </a:br>
            <a:r>
              <a:rPr lang="zh-TW"/>
              <a:t>while queue:</a:t>
            </a:r>
            <a:br>
              <a:rPr lang="zh-TW"/>
            </a:br>
            <a:r>
              <a:rPr lang="zh-TW"/>
              <a:t>	node = queue.popleft()</a:t>
            </a:r>
            <a:br>
              <a:rPr lang="zh-TW"/>
            </a:br>
            <a:r>
              <a:rPr lang="zh-TW"/>
              <a:t>	print(node.val)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if node.left:</a:t>
            </a:r>
            <a:br>
              <a:rPr lang="zh-TW"/>
            </a:br>
            <a:r>
              <a:rPr lang="zh-TW"/>
              <a:t>		queue.append(node.left)</a:t>
            </a:r>
            <a:br>
              <a:rPr lang="zh-TW"/>
            </a:br>
            <a:r>
              <a:rPr lang="zh-TW"/>
              <a:t>	if node.right:</a:t>
            </a:r>
            <a:br>
              <a:rPr lang="zh-TW"/>
            </a:br>
            <a:r>
              <a:rPr lang="zh-TW"/>
              <a:t>		queue.append(node.right)</a:t>
            </a:r>
            <a:endParaRPr/>
          </a:p>
        </p:txBody>
      </p:sp>
      <p:sp>
        <p:nvSpPr>
          <p:cNvPr id="408" name="Google Shape;408;p57"/>
          <p:cNvSpPr txBox="1"/>
          <p:nvPr>
            <p:ph idx="2" type="body"/>
          </p:nvPr>
        </p:nvSpPr>
        <p:spPr>
          <a:xfrm>
            <a:off x="4638675" y="1634325"/>
            <a:ext cx="3686100" cy="30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get the level structures</a:t>
            </a:r>
            <a:br>
              <a:rPr lang="zh-TW"/>
            </a:br>
            <a:r>
              <a:rPr lang="zh-TW"/>
              <a:t>levels = []</a:t>
            </a:r>
            <a:br>
              <a:rPr lang="zh-TW"/>
            </a:br>
            <a:r>
              <a:rPr lang="zh-TW"/>
              <a:t>level = [root]</a:t>
            </a:r>
            <a:br>
              <a:rPr lang="zh-TW"/>
            </a:br>
            <a:r>
              <a:rPr lang="zh-TW"/>
              <a:t>while level:</a:t>
            </a:r>
            <a:br>
              <a:rPr lang="zh-TW"/>
            </a:br>
            <a:r>
              <a:rPr lang="zh-TW"/>
              <a:t>	next_level = []</a:t>
            </a:r>
            <a:br>
              <a:rPr lang="zh-TW"/>
            </a:br>
            <a:r>
              <a:rPr lang="zh-TW"/>
              <a:t>	for node in level:</a:t>
            </a:r>
            <a:br>
              <a:rPr lang="zh-TW"/>
            </a:br>
            <a:r>
              <a:rPr lang="zh-TW"/>
              <a:t>		if node.left:</a:t>
            </a:r>
            <a:br>
              <a:rPr lang="zh-TW"/>
            </a:br>
            <a:r>
              <a:rPr lang="zh-TW"/>
              <a:t>			next_level.append(node)</a:t>
            </a:r>
            <a:br>
              <a:rPr lang="zh-TW"/>
            </a:br>
            <a:r>
              <a:rPr lang="zh-TW"/>
              <a:t>		if node.right:</a:t>
            </a:r>
            <a:br>
              <a:rPr lang="zh-TW"/>
            </a:br>
            <a:r>
              <a:rPr lang="zh-TW"/>
              <a:t>			next_level.append(node)</a:t>
            </a:r>
            <a:br>
              <a:rPr lang="zh-TW"/>
            </a:br>
            <a:r>
              <a:rPr lang="zh-TW"/>
              <a:t>	level = next_level</a:t>
            </a:r>
            <a:br>
              <a:rPr lang="zh-TW"/>
            </a:br>
            <a:r>
              <a:rPr lang="zh-TW"/>
              <a:t>	levels.append(level)</a:t>
            </a:r>
            <a:br>
              <a:rPr lang="zh-TW"/>
            </a:br>
            <a:br>
              <a:rPr lang="zh-TW"/>
            </a:br>
            <a:r>
              <a:rPr lang="zh-TW"/>
              <a:t>print(levels)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Depth First Search (DFS)</a:t>
            </a:r>
            <a:endParaRPr/>
          </a:p>
        </p:txBody>
      </p:sp>
      <p:sp>
        <p:nvSpPr>
          <p:cNvPr id="414" name="Google Shape;414;p5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For binary Tree, DFS only has three templates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Inorder traversal: left -&gt; current -&gt; right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Preorder traversal: current -&gt; left -&gt; right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Postorder traversal: left -&gt; right -&gt; current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DFS in binary tree does not require a visited set or list because binary tree is a directed acyclic graph (DAG).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A visited set or list is required if cycles might exist.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Inorder (DFS branch)</a:t>
            </a:r>
            <a:endParaRPr/>
          </a:p>
        </p:txBody>
      </p:sp>
      <p:sp>
        <p:nvSpPr>
          <p:cNvPr id="420" name="Google Shape;420;p59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inorder(node):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inorder(node.left)</a:t>
            </a:r>
            <a:br>
              <a:rPr lang="zh-TW"/>
            </a:br>
            <a:r>
              <a:rPr lang="zh-TW"/>
              <a:t>	print(node.val)</a:t>
            </a:r>
            <a:br>
              <a:rPr lang="zh-TW"/>
            </a:br>
            <a:r>
              <a:rPr lang="zh-TW"/>
              <a:t>	inorder(node.right)</a:t>
            </a:r>
            <a:endParaRPr/>
          </a:p>
        </p:txBody>
      </p:sp>
      <p:sp>
        <p:nvSpPr>
          <p:cNvPr id="421" name="Google Shape;421;p59"/>
          <p:cNvSpPr txBox="1"/>
          <p:nvPr>
            <p:ph idx="2" type="body"/>
          </p:nvPr>
        </p:nvSpPr>
        <p:spPr>
          <a:xfrm>
            <a:off x="4638675" y="1758450"/>
            <a:ext cx="3686100" cy="31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using iterative (not recommend)</a:t>
            </a:r>
            <a:br>
              <a:rPr lang="zh-TW"/>
            </a:br>
            <a:r>
              <a:rPr lang="zh-TW"/>
              <a:t>def inorder(node):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stack = []</a:t>
            </a:r>
            <a:br>
              <a:rPr lang="zh-TW"/>
            </a:br>
            <a:r>
              <a:rPr lang="zh-TW"/>
              <a:t>	while stack or node:</a:t>
            </a:r>
            <a:br>
              <a:rPr lang="zh-TW"/>
            </a:br>
            <a:r>
              <a:rPr lang="zh-TW"/>
              <a:t>		</a:t>
            </a:r>
            <a:r>
              <a:rPr lang="zh-TW"/>
              <a:t>while</a:t>
            </a:r>
            <a:r>
              <a:rPr lang="zh-TW"/>
              <a:t> node:</a:t>
            </a:r>
            <a:br>
              <a:rPr lang="zh-TW"/>
            </a:br>
            <a:r>
              <a:rPr lang="zh-TW"/>
              <a:t>			stack.append(node)</a:t>
            </a:r>
            <a:br>
              <a:rPr lang="zh-TW"/>
            </a:br>
            <a:r>
              <a:rPr lang="zh-TW"/>
              <a:t>			node = node.left</a:t>
            </a:r>
            <a:br>
              <a:rPr lang="zh-TW"/>
            </a:br>
            <a:r>
              <a:rPr lang="zh-TW"/>
              <a:t>		node = stack.pop()</a:t>
            </a:r>
            <a:br>
              <a:rPr lang="zh-TW"/>
            </a:br>
            <a:r>
              <a:rPr lang="zh-TW"/>
              <a:t>		print(node.val)</a:t>
            </a:r>
            <a:br>
              <a:rPr lang="zh-TW"/>
            </a:br>
            <a:r>
              <a:rPr lang="zh-TW"/>
              <a:t>		node = node.right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Postorder </a:t>
            </a:r>
            <a:r>
              <a:rPr lang="zh-TW"/>
              <a:t>(DFS branch)</a:t>
            </a:r>
            <a:endParaRPr/>
          </a:p>
        </p:txBody>
      </p:sp>
      <p:sp>
        <p:nvSpPr>
          <p:cNvPr id="427" name="Google Shape;427;p60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postorder(node):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postorder(node.left)</a:t>
            </a:r>
            <a:br>
              <a:rPr lang="zh-TW"/>
            </a:br>
            <a:r>
              <a:rPr lang="zh-TW"/>
              <a:t>	postorder(node.right)</a:t>
            </a:r>
            <a:br>
              <a:rPr lang="zh-TW"/>
            </a:br>
            <a:r>
              <a:rPr lang="zh-TW"/>
              <a:t>	print(node.val)</a:t>
            </a:r>
            <a:endParaRPr/>
          </a:p>
        </p:txBody>
      </p:sp>
      <p:sp>
        <p:nvSpPr>
          <p:cNvPr id="428" name="Google Shape;428;p60"/>
          <p:cNvSpPr txBox="1"/>
          <p:nvPr>
            <p:ph idx="2" type="body"/>
          </p:nvPr>
        </p:nvSpPr>
        <p:spPr>
          <a:xfrm>
            <a:off x="4638675" y="1499875"/>
            <a:ext cx="3686100" cy="3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using iterative (not recommend)</a:t>
            </a:r>
            <a:br>
              <a:rPr lang="zh-TW"/>
            </a:br>
            <a:r>
              <a:rPr lang="zh-TW"/>
              <a:t>def postorder(node):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 </a:t>
            </a:r>
            <a:br>
              <a:rPr lang="zh-TW"/>
            </a:br>
            <a:r>
              <a:rPr lang="zh-TW"/>
              <a:t>	stack1 = [root]</a:t>
            </a:r>
            <a:br>
              <a:rPr lang="zh-TW"/>
            </a:br>
            <a:r>
              <a:rPr lang="zh-TW"/>
              <a:t>	stack2 = []</a:t>
            </a:r>
            <a:br>
              <a:rPr lang="zh-TW"/>
            </a:br>
            <a:r>
              <a:rPr lang="zh-TW"/>
              <a:t>	while stack1:</a:t>
            </a:r>
            <a:br>
              <a:rPr lang="zh-TW"/>
            </a:br>
            <a:r>
              <a:rPr lang="zh-TW"/>
              <a:t>		node = stack1.pop()</a:t>
            </a:r>
            <a:br>
              <a:rPr lang="zh-TW"/>
            </a:br>
            <a:r>
              <a:rPr lang="zh-TW"/>
              <a:t>		stack2.append(node)</a:t>
            </a:r>
            <a:br>
              <a:rPr lang="zh-TW"/>
            </a:br>
            <a:r>
              <a:rPr lang="zh-TW"/>
              <a:t>		if node.left:</a:t>
            </a:r>
            <a:br>
              <a:rPr lang="zh-TW"/>
            </a:br>
            <a:r>
              <a:rPr lang="zh-TW"/>
              <a:t>			stack1.append(node.left)</a:t>
            </a:r>
            <a:br>
              <a:rPr lang="zh-TW"/>
            </a:br>
            <a:r>
              <a:rPr lang="zh-TW"/>
              <a:t>		if node.right:</a:t>
            </a:r>
            <a:br>
              <a:rPr lang="zh-TW"/>
            </a:br>
            <a:r>
              <a:rPr lang="zh-TW"/>
              <a:t>			stack2.append(node.right)</a:t>
            </a:r>
            <a:br>
              <a:rPr lang="zh-TW"/>
            </a:br>
            <a:r>
              <a:rPr lang="zh-TW"/>
              <a:t>	while stack2:</a:t>
            </a:r>
            <a:br>
              <a:rPr lang="zh-TW"/>
            </a:br>
            <a:r>
              <a:rPr lang="zh-TW"/>
              <a:t>		print(stack2.pop().val)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Preorder </a:t>
            </a:r>
            <a:r>
              <a:rPr lang="zh-TW"/>
              <a:t>(DFS branch)</a:t>
            </a:r>
            <a:endParaRPr/>
          </a:p>
        </p:txBody>
      </p:sp>
      <p:sp>
        <p:nvSpPr>
          <p:cNvPr id="434" name="Google Shape;434;p6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def preorder(node):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print(node.val)</a:t>
            </a:r>
            <a:br>
              <a:rPr lang="zh-TW"/>
            </a:br>
            <a:r>
              <a:rPr lang="zh-TW"/>
              <a:t>	preorder(node.left)</a:t>
            </a:r>
            <a:br>
              <a:rPr lang="zh-TW"/>
            </a:br>
            <a:r>
              <a:rPr lang="zh-TW"/>
              <a:t>	preorder(node.right)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61"/>
          <p:cNvSpPr txBox="1"/>
          <p:nvPr>
            <p:ph idx="2" type="body"/>
          </p:nvPr>
        </p:nvSpPr>
        <p:spPr>
          <a:xfrm>
            <a:off x="4638675" y="1758450"/>
            <a:ext cx="3686100" cy="30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using iterative (not recommend)</a:t>
            </a:r>
            <a:br>
              <a:rPr lang="zh-TW"/>
            </a:br>
            <a:r>
              <a:rPr lang="zh-TW"/>
              <a:t>def preorder(node):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stack = [node]</a:t>
            </a:r>
            <a:br>
              <a:rPr lang="zh-TW"/>
            </a:br>
            <a:r>
              <a:rPr lang="zh-TW"/>
              <a:t>	while stack:</a:t>
            </a:r>
            <a:br>
              <a:rPr lang="zh-TW"/>
            </a:br>
            <a:r>
              <a:rPr lang="zh-TW"/>
              <a:t>		node = stack.pop()</a:t>
            </a:r>
            <a:br>
              <a:rPr lang="zh-TW"/>
            </a:br>
            <a:r>
              <a:rPr lang="zh-TW"/>
              <a:t>		print(node.val)</a:t>
            </a:r>
            <a:br>
              <a:rPr lang="zh-TW"/>
            </a:br>
            <a:r>
              <a:rPr lang="zh-TW"/>
              <a:t>		if node.right:</a:t>
            </a:r>
            <a:br>
              <a:rPr lang="zh-TW"/>
            </a:br>
            <a:r>
              <a:rPr lang="zh-TW"/>
              <a:t>			stack.append(node.right)</a:t>
            </a:r>
            <a:br>
              <a:rPr lang="zh-TW"/>
            </a:br>
            <a:r>
              <a:rPr lang="zh-TW"/>
              <a:t>		if node.left:</a:t>
            </a:r>
            <a:br>
              <a:rPr lang="zh-TW"/>
            </a:br>
            <a:r>
              <a:rPr lang="zh-TW"/>
              <a:t>			stack.append(node.left)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Preorder constructs BST</a:t>
            </a:r>
            <a:endParaRPr/>
          </a:p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dfs(preorder, left, right) -&gt; Optional[TreeNode]:</a:t>
            </a:r>
            <a:br>
              <a:rPr lang="zh-TW"/>
            </a:br>
            <a:r>
              <a:rPr lang="zh-TW"/>
              <a:t>	if left == right:</a:t>
            </a:r>
            <a:br>
              <a:rPr lang="zh-TW"/>
            </a:br>
            <a:r>
              <a:rPr lang="zh-TW"/>
              <a:t>		return None</a:t>
            </a:r>
            <a:br>
              <a:rPr lang="zh-TW"/>
            </a:br>
            <a:br>
              <a:rPr lang="zh-TW"/>
            </a:br>
            <a:r>
              <a:rPr lang="zh-TW"/>
              <a:t>	node = TreeNode(preorder[left])</a:t>
            </a:r>
            <a:br>
              <a:rPr lang="zh-TW"/>
            </a:br>
            <a:r>
              <a:rPr lang="zh-TW"/>
              <a:t>	gt_idx = bisect.bisect_right(preorder, node.val, lo=left+1)</a:t>
            </a:r>
            <a:br>
              <a:rPr lang="zh-TW"/>
            </a:br>
            <a:r>
              <a:rPr lang="zh-TW"/>
              <a:t>	node.left = dfs(preorder, left + 1, gt_idx)</a:t>
            </a:r>
            <a:br>
              <a:rPr lang="zh-TW"/>
            </a:br>
            <a:r>
              <a:rPr lang="zh-TW"/>
              <a:t>	node.right = dfs(preorder, gt_idx, right)</a:t>
            </a:r>
            <a:br>
              <a:rPr lang="zh-TW"/>
            </a:br>
            <a:r>
              <a:rPr lang="zh-TW"/>
              <a:t>	</a:t>
            </a:r>
            <a:r>
              <a:rPr lang="zh-TW"/>
              <a:t>return node</a:t>
            </a:r>
            <a:br>
              <a:rPr lang="zh-TW"/>
            </a:br>
            <a:br>
              <a:rPr lang="zh-TW"/>
            </a:br>
            <a:r>
              <a:rPr lang="zh-TW"/>
              <a:t>return dfs(preorder, 0, len(preorder)</a:t>
            </a:r>
            <a:endParaRPr/>
          </a:p>
        </p:txBody>
      </p:sp>
      <p:sp>
        <p:nvSpPr>
          <p:cNvPr id="442" name="Google Shape;442;p62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Explanation</a:t>
            </a:r>
            <a:br>
              <a:rPr lang="zh-TW"/>
            </a:br>
            <a:r>
              <a:rPr lang="zh-TW"/>
              <a:t># preorder: current -&gt; left -&gt; right</a:t>
            </a:r>
            <a:br>
              <a:rPr lang="zh-TW"/>
            </a:br>
            <a:r>
              <a:rPr lang="zh-TW"/>
              <a:t># because all values in preorder are uqniue, use binary search upper bound to find gt_idx</a:t>
            </a:r>
            <a:br>
              <a:rPr lang="zh-TW"/>
            </a:br>
            <a:r>
              <a:rPr lang="zh-TW"/>
              <a:t># current = preorder[0]</a:t>
            </a:r>
            <a:br>
              <a:rPr lang="zh-TW"/>
            </a:br>
            <a:r>
              <a:rPr lang="zh-TW"/>
              <a:t># left_part = preorder[0+1: gt_idx]</a:t>
            </a:r>
            <a:br>
              <a:rPr lang="zh-TW"/>
            </a:br>
            <a:r>
              <a:rPr lang="zh-TW"/>
              <a:t># right_part = preorder[gt_idx: ]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Inorder and Preorder construct Tree</a:t>
            </a:r>
            <a:endParaRPr/>
          </a:p>
        </p:txBody>
      </p:sp>
      <p:sp>
        <p:nvSpPr>
          <p:cNvPr id="448" name="Google Shape;448;p6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Inorder and Postorder construct Tree</a:t>
            </a:r>
            <a:endParaRPr/>
          </a:p>
        </p:txBody>
      </p:sp>
      <p:sp>
        <p:nvSpPr>
          <p:cNvPr id="454" name="Google Shape;454;p6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Preorder and Postorder construct Tree</a:t>
            </a:r>
            <a:endParaRPr/>
          </a:p>
        </p:txBody>
      </p:sp>
      <p:sp>
        <p:nvSpPr>
          <p:cNvPr id="460" name="Google Shape;460;p6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Lowest Common Ancestor (LCA)</a:t>
            </a:r>
            <a:endParaRPr/>
          </a:p>
        </p:txBody>
      </p:sp>
      <p:sp>
        <p:nvSpPr>
          <p:cNvPr id="467" name="Google Shape;467;p66"/>
          <p:cNvSpPr txBox="1"/>
          <p:nvPr>
            <p:ph idx="1" type="body"/>
          </p:nvPr>
        </p:nvSpPr>
        <p:spPr>
          <a:xfrm>
            <a:off x="372375" y="1634325"/>
            <a:ext cx="4132800" cy="28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lowestCommonAncestor(node, p, q):</a:t>
            </a:r>
            <a:br>
              <a:rPr lang="zh-TW"/>
            </a:br>
            <a:r>
              <a:rPr lang="zh-TW"/>
              <a:t>	if not node or node == p or node == q:</a:t>
            </a:r>
            <a:br>
              <a:rPr lang="zh-TW"/>
            </a:br>
            <a:r>
              <a:rPr lang="zh-TW"/>
              <a:t>		return node</a:t>
            </a:r>
            <a:br>
              <a:rPr lang="zh-TW"/>
            </a:br>
            <a:br>
              <a:rPr lang="zh-TW"/>
            </a:br>
            <a:r>
              <a:rPr lang="zh-TW"/>
              <a:t>	left = lowestCommonAncestor(node.left, p, q)</a:t>
            </a:r>
            <a:br>
              <a:rPr lang="zh-TW"/>
            </a:br>
            <a:r>
              <a:rPr lang="zh-TW"/>
              <a:t>	right = lowestCommonAncestor(node.right, p, q)</a:t>
            </a:r>
            <a:br>
              <a:rPr lang="zh-TW"/>
            </a:br>
            <a:br>
              <a:rPr lang="zh-TW"/>
            </a:br>
            <a:r>
              <a:rPr lang="zh-TW"/>
              <a:t>	if left and right:</a:t>
            </a:r>
            <a:br>
              <a:rPr lang="zh-TW"/>
            </a:br>
            <a:r>
              <a:rPr lang="zh-TW"/>
              <a:t>		return node</a:t>
            </a:r>
            <a:br>
              <a:rPr lang="zh-TW"/>
            </a:br>
            <a:r>
              <a:rPr lang="zh-TW"/>
              <a:t>	return left if left else right</a:t>
            </a:r>
            <a:endParaRPr/>
          </a:p>
        </p:txBody>
      </p:sp>
      <p:sp>
        <p:nvSpPr>
          <p:cNvPr id="468" name="Google Shape;468;p66"/>
          <p:cNvSpPr txBox="1"/>
          <p:nvPr>
            <p:ph idx="2" type="body"/>
          </p:nvPr>
        </p:nvSpPr>
        <p:spPr>
          <a:xfrm>
            <a:off x="4638675" y="1634325"/>
            <a:ext cx="3686100" cy="33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lcaDeepestLeaves(node): # return depth, node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 0, None</a:t>
            </a:r>
            <a:br>
              <a:rPr lang="zh-TW"/>
            </a:br>
            <a:br>
              <a:rPr lang="zh-TW"/>
            </a:br>
            <a:r>
              <a:rPr lang="zh-TW"/>
              <a:t>	left = lcaDeepestLeaves(node.left)</a:t>
            </a:r>
            <a:br>
              <a:rPr lang="zh-TW"/>
            </a:br>
            <a:r>
              <a:rPr lang="zh-TW"/>
              <a:t>	right = lcaDeepestLeaves(node.right)</a:t>
            </a:r>
            <a:br>
              <a:rPr lang="zh-TW"/>
            </a:br>
            <a:br>
              <a:rPr lang="zh-TW"/>
            </a:br>
            <a:r>
              <a:rPr lang="zh-TW"/>
              <a:t>	if left[0] &gt; right[0]:</a:t>
            </a:r>
            <a:br>
              <a:rPr lang="zh-TW"/>
            </a:br>
            <a:r>
              <a:rPr lang="zh-TW"/>
              <a:t>		return left[0] + 1, left[1]</a:t>
            </a:r>
            <a:br>
              <a:rPr lang="zh-TW"/>
            </a:br>
            <a:r>
              <a:rPr lang="zh-TW"/>
              <a:t>	elif left[0] &lt; right[0]:</a:t>
            </a:r>
            <a:br>
              <a:rPr lang="zh-TW"/>
            </a:br>
            <a:r>
              <a:rPr lang="zh-TW"/>
              <a:t>		return right[0] + 1, right[1]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return left[0] + 1, node</a:t>
            </a:r>
            <a:br>
              <a:rPr lang="zh-TW"/>
            </a:br>
            <a:br>
              <a:rPr lang="zh-TW"/>
            </a:br>
            <a:r>
              <a:rPr lang="zh-TW"/>
              <a:t>return lcaDeepestLeaves(root)[1]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7"/>
          <p:cNvSpPr txBox="1"/>
          <p:nvPr>
            <p:ph type="title"/>
          </p:nvPr>
        </p:nvSpPr>
        <p:spPr>
          <a:xfrm>
            <a:off x="819150" y="545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Path Sum</a:t>
            </a:r>
            <a:endParaRPr/>
          </a:p>
        </p:txBody>
      </p:sp>
      <p:sp>
        <p:nvSpPr>
          <p:cNvPr id="474" name="Google Shape;474;p67"/>
          <p:cNvSpPr txBox="1"/>
          <p:nvPr>
            <p:ph idx="1" type="body"/>
          </p:nvPr>
        </p:nvSpPr>
        <p:spPr>
          <a:xfrm>
            <a:off x="289625" y="1303325"/>
            <a:ext cx="4215600" cy="30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Check at least one path(root, leaf) can sum up to target</a:t>
            </a:r>
            <a:br>
              <a:rPr lang="zh-TW"/>
            </a:br>
            <a:r>
              <a:rPr lang="zh-TW"/>
              <a:t>def dfs(node, target):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 False</a:t>
            </a:r>
            <a:br>
              <a:rPr lang="zh-TW"/>
            </a:br>
            <a:r>
              <a:rPr lang="zh-TW"/>
              <a:t>	if not node.left and not node.right:</a:t>
            </a:r>
            <a:br>
              <a:rPr lang="zh-TW"/>
            </a:br>
            <a:r>
              <a:rPr lang="zh-TW"/>
              <a:t>		return node.val == target</a:t>
            </a:r>
            <a:br>
              <a:rPr lang="zh-TW"/>
            </a:br>
            <a:r>
              <a:rPr lang="zh-TW"/>
              <a:t>		</a:t>
            </a:r>
            <a:br>
              <a:rPr lang="zh-TW"/>
            </a:br>
            <a:r>
              <a:rPr lang="zh-TW"/>
              <a:t>	left = dfs(node.left, target-node.val)</a:t>
            </a:r>
            <a:br>
              <a:rPr lang="zh-TW"/>
            </a:br>
            <a:r>
              <a:rPr lang="zh-TW"/>
              <a:t>	right = dfs(node.right, target-node.val)</a:t>
            </a:r>
            <a:br>
              <a:rPr lang="zh-TW"/>
            </a:br>
            <a:r>
              <a:rPr lang="zh-TW"/>
              <a:t>	return l</a:t>
            </a:r>
            <a:r>
              <a:rPr lang="zh-TW"/>
              <a:t>eft or right </a:t>
            </a:r>
            <a:br>
              <a:rPr lang="zh-TW"/>
            </a:br>
            <a:br>
              <a:rPr lang="zh-TW"/>
            </a:br>
            <a:r>
              <a:rPr lang="zh-TW"/>
              <a:t>dfs(root, target)</a:t>
            </a:r>
            <a:endParaRPr/>
          </a:p>
        </p:txBody>
      </p:sp>
      <p:sp>
        <p:nvSpPr>
          <p:cNvPr id="475" name="Google Shape;475;p67"/>
          <p:cNvSpPr txBox="1"/>
          <p:nvPr>
            <p:ph idx="2" type="body"/>
          </p:nvPr>
        </p:nvSpPr>
        <p:spPr>
          <a:xfrm>
            <a:off x="4638675" y="1303325"/>
            <a:ext cx="4267500" cy="36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find all paths(root, leaf) sum up to target</a:t>
            </a:r>
            <a:br>
              <a:rPr lang="zh-TW"/>
            </a:br>
            <a:r>
              <a:rPr lang="zh-TW"/>
              <a:t>paths = []</a:t>
            </a:r>
            <a:br>
              <a:rPr lang="zh-TW"/>
            </a:br>
            <a:r>
              <a:rPr lang="zh-TW"/>
              <a:t>def dfs(node, prev_path, target):  # backtracking DFS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 </a:t>
            </a:r>
            <a:br>
              <a:rPr lang="zh-TW"/>
            </a:br>
            <a:r>
              <a:rPr lang="zh-TW"/>
              <a:t>	if not node.left and not node.right:</a:t>
            </a:r>
            <a:br>
              <a:rPr lang="zh-TW"/>
            </a:br>
            <a:r>
              <a:rPr lang="zh-TW"/>
              <a:t>		if node.val == target:</a:t>
            </a:r>
            <a:br>
              <a:rPr lang="zh-TW"/>
            </a:br>
            <a:r>
              <a:rPr lang="zh-TW"/>
              <a:t>			paths.append(prev_path + [node.val])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br>
              <a:rPr lang="zh-TW"/>
            </a:br>
            <a:r>
              <a:rPr lang="zh-TW"/>
              <a:t>	prev_path.append(node.val)</a:t>
            </a:r>
            <a:br>
              <a:rPr lang="zh-TW"/>
            </a:br>
            <a:r>
              <a:rPr lang="zh-TW"/>
              <a:t>	dfs(node.left, prev_path, target - node.val)</a:t>
            </a:r>
            <a:br>
              <a:rPr lang="zh-TW"/>
            </a:br>
            <a:r>
              <a:rPr lang="zh-TW"/>
              <a:t>	dfs(node.right, prev_path, target - node.val)</a:t>
            </a:r>
            <a:br>
              <a:rPr lang="zh-TW"/>
            </a:br>
            <a:r>
              <a:rPr lang="zh-TW"/>
              <a:t>	prev_path.pop()</a:t>
            </a:r>
            <a:br>
              <a:rPr lang="zh-TW"/>
            </a:br>
            <a:br>
              <a:rPr lang="zh-TW"/>
            </a:br>
            <a:r>
              <a:rPr lang="zh-TW"/>
              <a:t>dfs(root, [], target)</a:t>
            </a:r>
            <a:br>
              <a:rPr lang="zh-TW"/>
            </a:br>
            <a:r>
              <a:rPr lang="zh-TW"/>
              <a:t>return paths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8"/>
          <p:cNvSpPr txBox="1"/>
          <p:nvPr>
            <p:ph type="title"/>
          </p:nvPr>
        </p:nvSpPr>
        <p:spPr>
          <a:xfrm>
            <a:off x="819150" y="3594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Path Sum with Prefix Sum</a:t>
            </a:r>
            <a:endParaRPr/>
          </a:p>
        </p:txBody>
      </p:sp>
      <p:sp>
        <p:nvSpPr>
          <p:cNvPr id="481" name="Google Shape;481;p68"/>
          <p:cNvSpPr txBox="1"/>
          <p:nvPr>
            <p:ph idx="1" type="body"/>
          </p:nvPr>
        </p:nvSpPr>
        <p:spPr>
          <a:xfrm>
            <a:off x="819200" y="1024050"/>
            <a:ext cx="3686100" cy="38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Path can be any node downward to another node</a:t>
            </a:r>
            <a:br>
              <a:rPr lang="zh-TW"/>
            </a:br>
            <a:r>
              <a:rPr lang="zh-TW"/>
              <a:t># using the concept of subarray sum up to target</a:t>
            </a:r>
            <a:br>
              <a:rPr lang="zh-TW"/>
            </a:br>
            <a:r>
              <a:rPr lang="zh-TW"/>
              <a:t>count = 0</a:t>
            </a:r>
            <a:br>
              <a:rPr lang="zh-TW"/>
            </a:br>
            <a:r>
              <a:rPr lang="zh-TW"/>
              <a:t>prefix_sum_freq = defaultdict(int)</a:t>
            </a:r>
            <a:br>
              <a:rPr lang="zh-TW"/>
            </a:br>
            <a:r>
              <a:rPr lang="zh-TW"/>
              <a:t>def dfs(node, prev_sum, target):</a:t>
            </a:r>
            <a:br>
              <a:rPr lang="zh-TW"/>
            </a:br>
            <a:r>
              <a:rPr lang="zh-TW"/>
              <a:t>	nonlocal count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curr_sum = prev_sum + node.val</a:t>
            </a:r>
            <a:br>
              <a:rPr lang="zh-TW"/>
            </a:br>
            <a:r>
              <a:rPr lang="zh-TW"/>
              <a:t>	if curr_sum == target:</a:t>
            </a:r>
            <a:br>
              <a:rPr lang="zh-TW"/>
            </a:br>
            <a:r>
              <a:rPr lang="zh-TW"/>
              <a:t>		count += 1</a:t>
            </a:r>
            <a:br>
              <a:rPr lang="zh-TW"/>
            </a:br>
            <a:r>
              <a:rPr lang="zh-TW"/>
              <a:t>	count += prefix_sum_freq[curr_sum-target]</a:t>
            </a:r>
            <a:br>
              <a:rPr lang="zh-TW"/>
            </a:br>
            <a:r>
              <a:rPr lang="zh-TW"/>
              <a:t>	prefix_sum_freq[curr_sum] += 1</a:t>
            </a:r>
            <a:br>
              <a:rPr lang="zh-TW"/>
            </a:br>
            <a:r>
              <a:rPr lang="zh-TW"/>
              <a:t>	dfs(node.left, curr_sum, target)</a:t>
            </a:r>
            <a:br>
              <a:rPr lang="zh-TW"/>
            </a:br>
            <a:r>
              <a:rPr lang="zh-TW"/>
              <a:t>	dfs(node.right, curr_sum, target)</a:t>
            </a:r>
            <a:br>
              <a:rPr lang="zh-TW"/>
            </a:br>
            <a:r>
              <a:rPr lang="zh-TW"/>
              <a:t>	prefix_sum_freq[curr_sum] -= 1</a:t>
            </a:r>
            <a:br>
              <a:rPr lang="zh-TW"/>
            </a:br>
            <a:br>
              <a:rPr lang="zh-TW"/>
            </a:br>
            <a:r>
              <a:rPr lang="zh-TW"/>
              <a:t>dfs(root, 0, target)</a:t>
            </a:r>
            <a:br>
              <a:rPr lang="zh-TW"/>
            </a:br>
            <a:r>
              <a:rPr lang="zh-TW"/>
              <a:t>return count</a:t>
            </a:r>
            <a:endParaRPr/>
          </a:p>
        </p:txBody>
      </p:sp>
      <p:sp>
        <p:nvSpPr>
          <p:cNvPr id="482" name="Google Shape;482;p68"/>
          <p:cNvSpPr txBox="1"/>
          <p:nvPr>
            <p:ph idx="2" type="body"/>
          </p:nvPr>
        </p:nvSpPr>
        <p:spPr>
          <a:xfrm>
            <a:off x="4638727" y="1261975"/>
            <a:ext cx="4143300" cy="32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subarray sum up to target</a:t>
            </a:r>
            <a:br>
              <a:rPr lang="zh-TW"/>
            </a:br>
            <a:r>
              <a:rPr lang="zh-TW"/>
              <a:t>def subarray_sum(nums, target):</a:t>
            </a:r>
            <a:br>
              <a:rPr lang="zh-TW"/>
            </a:br>
            <a:r>
              <a:rPr lang="zh-TW"/>
              <a:t>	count = 0</a:t>
            </a:r>
            <a:br>
              <a:rPr lang="zh-TW"/>
            </a:br>
            <a:r>
              <a:rPr lang="zh-TW"/>
              <a:t>	curr_sum = 0</a:t>
            </a:r>
            <a:br>
              <a:rPr lang="zh-TW"/>
            </a:br>
            <a:r>
              <a:rPr lang="zh-TW"/>
              <a:t>	prefix_sum_freq = defaultdict(int)</a:t>
            </a:r>
            <a:br>
              <a:rPr lang="zh-TW"/>
            </a:br>
            <a:r>
              <a:rPr lang="zh-TW"/>
              <a:t>	for num in nums:</a:t>
            </a:r>
            <a:br>
              <a:rPr lang="zh-TW"/>
            </a:br>
            <a:r>
              <a:rPr lang="zh-TW"/>
              <a:t>		curr_sum += num</a:t>
            </a:r>
            <a:br>
              <a:rPr lang="zh-TW"/>
            </a:br>
            <a:r>
              <a:rPr lang="zh-TW"/>
              <a:t>		if curr_sum == target:</a:t>
            </a:r>
            <a:br>
              <a:rPr lang="zh-TW"/>
            </a:br>
            <a:r>
              <a:rPr lang="zh-TW"/>
              <a:t>			count += 1</a:t>
            </a:r>
            <a:br>
              <a:rPr lang="zh-TW"/>
            </a:br>
            <a:br>
              <a:rPr lang="zh-TW"/>
            </a:br>
            <a:r>
              <a:rPr lang="zh-TW"/>
              <a:t>		count += prefix_sum_freq[curr_sum-target]</a:t>
            </a:r>
            <a:br>
              <a:rPr lang="zh-TW"/>
            </a:br>
            <a:r>
              <a:rPr lang="zh-TW"/>
              <a:t>		prefix_sum_freq[curr_sum] += 1</a:t>
            </a:r>
            <a:br>
              <a:rPr lang="zh-TW"/>
            </a:br>
            <a:br>
              <a:rPr lang="zh-TW"/>
            </a:br>
            <a:r>
              <a:rPr lang="zh-TW"/>
              <a:t>	return count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Path Sum</a:t>
            </a:r>
            <a:endParaRPr/>
          </a:p>
        </p:txBody>
      </p:sp>
      <p:sp>
        <p:nvSpPr>
          <p:cNvPr id="488" name="Google Shape;488;p69"/>
          <p:cNvSpPr txBox="1"/>
          <p:nvPr>
            <p:ph idx="1" type="body"/>
          </p:nvPr>
        </p:nvSpPr>
        <p:spPr>
          <a:xfrm>
            <a:off x="819150" y="1510200"/>
            <a:ext cx="7505700" cy="31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Path can be arbitrary</a:t>
            </a:r>
            <a:br>
              <a:rPr lang="zh-TW"/>
            </a:br>
            <a:r>
              <a:rPr lang="zh-TW"/>
              <a:t>max_sum = -math.inf</a:t>
            </a:r>
            <a:br>
              <a:rPr lang="zh-TW"/>
            </a:br>
            <a:r>
              <a:rPr lang="zh-TW"/>
              <a:t>def dfs(node) -&gt; int: # return max_path_sum involve node and at most one child’s path</a:t>
            </a:r>
            <a:br>
              <a:rPr lang="zh-TW"/>
            </a:br>
            <a:r>
              <a:rPr lang="zh-TW"/>
              <a:t>	nonlocal max_sum</a:t>
            </a:r>
            <a:br>
              <a:rPr lang="zh-TW"/>
            </a:br>
            <a:r>
              <a:rPr lang="zh-TW"/>
              <a:t>	if not node:</a:t>
            </a:r>
            <a:br>
              <a:rPr lang="zh-TW"/>
            </a:br>
            <a:r>
              <a:rPr lang="zh-TW"/>
              <a:t>		return 0</a:t>
            </a:r>
            <a:br>
              <a:rPr lang="zh-TW"/>
            </a:br>
            <a:br>
              <a:rPr lang="zh-TW"/>
            </a:br>
            <a:r>
              <a:rPr lang="zh-TW"/>
              <a:t>	left = max(dfs(node.left), 0)</a:t>
            </a:r>
            <a:br>
              <a:rPr lang="zh-TW"/>
            </a:br>
            <a:r>
              <a:rPr lang="zh-TW"/>
              <a:t>	right = max(dfs(node.right), 0)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</a:t>
            </a:r>
            <a:r>
              <a:rPr lang="zh-TW"/>
              <a:t>max_sum = max(max_sum, node.val + left + right)</a:t>
            </a:r>
            <a:br>
              <a:rPr lang="zh-TW"/>
            </a:br>
            <a:r>
              <a:rPr lang="zh-TW"/>
              <a:t>	return node.val + max(left, right)</a:t>
            </a:r>
            <a:br>
              <a:rPr lang="zh-TW"/>
            </a:br>
            <a:br>
              <a:rPr lang="zh-TW"/>
            </a:br>
            <a:r>
              <a:rPr lang="zh-TW"/>
              <a:t>dfs(root)</a:t>
            </a:r>
            <a:br>
              <a:rPr lang="zh-TW"/>
            </a:br>
            <a:r>
              <a:rPr lang="zh-TW"/>
              <a:t>return max_sum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0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Priority Queue (Heap)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2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Prefix Sum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3"/>
          <p:cNvSpPr txBox="1"/>
          <p:nvPr>
            <p:ph type="title"/>
          </p:nvPr>
        </p:nvSpPr>
        <p:spPr>
          <a:xfrm>
            <a:off x="819150" y="2898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Subarray Sum to Target</a:t>
            </a:r>
            <a:endParaRPr/>
          </a:p>
        </p:txBody>
      </p:sp>
      <p:sp>
        <p:nvSpPr>
          <p:cNvPr id="510" name="Google Shape;510;p73"/>
          <p:cNvSpPr txBox="1"/>
          <p:nvPr>
            <p:ph idx="1" type="body"/>
          </p:nvPr>
        </p:nvSpPr>
        <p:spPr>
          <a:xfrm>
            <a:off x="819150" y="1244425"/>
            <a:ext cx="75057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subarray sum up to target</a:t>
            </a:r>
            <a:br>
              <a:rPr lang="zh-TW"/>
            </a:br>
            <a:r>
              <a:rPr lang="zh-TW"/>
              <a:t>def subarray_sum(nums, target):</a:t>
            </a:r>
            <a:br>
              <a:rPr lang="zh-TW"/>
            </a:br>
            <a:r>
              <a:rPr lang="zh-TW"/>
              <a:t>	count = 0</a:t>
            </a:r>
            <a:br>
              <a:rPr lang="zh-TW"/>
            </a:br>
            <a:r>
              <a:rPr lang="zh-TW"/>
              <a:t>	curr_sum = 0</a:t>
            </a:r>
            <a:br>
              <a:rPr lang="zh-TW"/>
            </a:br>
            <a:r>
              <a:rPr lang="zh-TW"/>
              <a:t>	prefix_sum_freq = defaultdict(int)</a:t>
            </a:r>
            <a:br>
              <a:rPr lang="zh-TW"/>
            </a:br>
            <a:r>
              <a:rPr lang="zh-TW"/>
              <a:t>	for num in nums:</a:t>
            </a:r>
            <a:br>
              <a:rPr lang="zh-TW"/>
            </a:br>
            <a:r>
              <a:rPr lang="zh-TW"/>
              <a:t>		curr_sum += num</a:t>
            </a:r>
            <a:br>
              <a:rPr lang="zh-TW"/>
            </a:br>
            <a:r>
              <a:rPr lang="zh-TW"/>
              <a:t>		if curr_sum == target:</a:t>
            </a:r>
            <a:br>
              <a:rPr lang="zh-TW"/>
            </a:br>
            <a:r>
              <a:rPr lang="zh-TW"/>
              <a:t>			count += 1</a:t>
            </a:r>
            <a:br>
              <a:rPr lang="zh-TW"/>
            </a:br>
            <a:br>
              <a:rPr lang="zh-TW"/>
            </a:br>
            <a:r>
              <a:rPr lang="zh-TW"/>
              <a:t>		count += prefix_sum_freq[target - curr_sum]</a:t>
            </a:r>
            <a:br>
              <a:rPr lang="zh-TW"/>
            </a:br>
            <a:r>
              <a:rPr lang="zh-TW"/>
              <a:t>		prefix_sum_freq[curr_sum] += 1</a:t>
            </a:r>
            <a:br>
              <a:rPr lang="zh-TW"/>
            </a:br>
            <a:br>
              <a:rPr lang="zh-TW"/>
            </a:br>
            <a:r>
              <a:rPr lang="zh-TW"/>
              <a:t>	return count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Quick Select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5"/>
          <p:cNvSpPr txBox="1"/>
          <p:nvPr>
            <p:ph type="title"/>
          </p:nvPr>
        </p:nvSpPr>
        <p:spPr>
          <a:xfrm>
            <a:off x="819150" y="555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Two part (Unique value)</a:t>
            </a:r>
            <a:endParaRPr/>
          </a:p>
        </p:txBody>
      </p:sp>
      <p:sp>
        <p:nvSpPr>
          <p:cNvPr id="521" name="Google Shape;521;p75"/>
          <p:cNvSpPr txBox="1"/>
          <p:nvPr>
            <p:ph idx="1" type="body"/>
          </p:nvPr>
        </p:nvSpPr>
        <p:spPr>
          <a:xfrm>
            <a:off x="320650" y="1303350"/>
            <a:ext cx="41742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partition(left, right):</a:t>
            </a:r>
            <a:br>
              <a:rPr lang="zh-TW"/>
            </a:br>
            <a:r>
              <a:rPr lang="zh-TW"/>
              <a:t>	random_idx = random.randint(left, right)</a:t>
            </a:r>
            <a:br>
              <a:rPr lang="zh-TW"/>
            </a:br>
            <a:r>
              <a:rPr lang="zh-TW"/>
              <a:t>	swap(random_idx, right)  # move to rightmost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pivot_value = nums[right]</a:t>
            </a:r>
            <a:br>
              <a:rPr lang="zh-TW"/>
            </a:br>
            <a:r>
              <a:rPr lang="zh-TW"/>
              <a:t>	pivot_idx = left</a:t>
            </a:r>
            <a:br>
              <a:rPr lang="zh-TW"/>
            </a:br>
            <a:r>
              <a:rPr lang="zh-TW"/>
              <a:t>	for i in range(left, right):</a:t>
            </a:r>
            <a:br>
              <a:rPr lang="zh-TW"/>
            </a:br>
            <a:r>
              <a:rPr lang="zh-TW"/>
              <a:t>		if nums[i] &lt; pivot_value:</a:t>
            </a:r>
            <a:br>
              <a:rPr lang="zh-TW"/>
            </a:br>
            <a:r>
              <a:rPr lang="zh-TW"/>
              <a:t>			swap(i, pivot_idx)</a:t>
            </a:r>
            <a:br>
              <a:rPr lang="zh-TW"/>
            </a:br>
            <a:r>
              <a:rPr lang="zh-TW"/>
              <a:t>			pivot_idx += 1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swap(pivot_idx, right)</a:t>
            </a:r>
            <a:br>
              <a:rPr lang="zh-TW"/>
            </a:br>
            <a:r>
              <a:rPr lang="zh-TW"/>
              <a:t>	return pivot_idx  # pivot_value = nums[pivot_idx]</a:t>
            </a:r>
            <a:endParaRPr/>
          </a:p>
        </p:txBody>
      </p:sp>
      <p:sp>
        <p:nvSpPr>
          <p:cNvPr id="522" name="Google Shape;522;p75"/>
          <p:cNvSpPr txBox="1"/>
          <p:nvPr>
            <p:ph idx="2" type="body"/>
          </p:nvPr>
        </p:nvSpPr>
        <p:spPr>
          <a:xfrm>
            <a:off x="4793850" y="1303351"/>
            <a:ext cx="36861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 Example, find k smallest value</a:t>
            </a:r>
            <a:br>
              <a:rPr lang="zh-TW"/>
            </a:br>
            <a:r>
              <a:rPr lang="zh-TW"/>
              <a:t>target = k - 1</a:t>
            </a:r>
            <a:br>
              <a:rPr lang="zh-TW"/>
            </a:br>
            <a:r>
              <a:rPr lang="zh-TW"/>
              <a:t>left, right = 0, len(nums) - 1</a:t>
            </a:r>
            <a:br>
              <a:rPr lang="zh-TW"/>
            </a:br>
            <a:r>
              <a:rPr lang="zh-TW"/>
              <a:t>while left &lt;= right:</a:t>
            </a:r>
            <a:br>
              <a:rPr lang="zh-TW"/>
            </a:br>
            <a:r>
              <a:rPr lang="zh-TW"/>
              <a:t>	pivot_idx = partition(left, right)</a:t>
            </a:r>
            <a:br>
              <a:rPr lang="zh-TW"/>
            </a:br>
            <a:r>
              <a:rPr lang="zh-TW"/>
              <a:t>	if pivot_idx == target:</a:t>
            </a:r>
            <a:br>
              <a:rPr lang="zh-TW"/>
            </a:br>
            <a:r>
              <a:rPr lang="zh-TW"/>
              <a:t>		return nums[pivot_idx]</a:t>
            </a:r>
            <a:br>
              <a:rPr lang="zh-TW"/>
            </a:br>
            <a:r>
              <a:rPr lang="zh-TW"/>
              <a:t>	elif pivot_idx &lt; target:</a:t>
            </a:r>
            <a:br>
              <a:rPr lang="zh-TW"/>
            </a:br>
            <a:r>
              <a:rPr lang="zh-TW"/>
              <a:t>		left = pivot_idx + 1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right = pivot_idx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Worst case is O(N^2) if a value duplicates extremely large times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6"/>
          <p:cNvSpPr txBox="1"/>
          <p:nvPr>
            <p:ph idx="1" type="body"/>
          </p:nvPr>
        </p:nvSpPr>
        <p:spPr>
          <a:xfrm>
            <a:off x="320650" y="1303350"/>
            <a:ext cx="41742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partition(left, right):</a:t>
            </a:r>
            <a:br>
              <a:rPr lang="zh-TW"/>
            </a:br>
            <a:r>
              <a:rPr lang="zh-TW"/>
              <a:t>	random_idx = random.randint(left, right)</a:t>
            </a:r>
            <a:br>
              <a:rPr lang="zh-TW"/>
            </a:br>
            <a:r>
              <a:rPr lang="zh-TW"/>
              <a:t>	swap(random_idx, right)  # move to rightmost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pivot_value = nums[right]</a:t>
            </a:r>
            <a:br>
              <a:rPr lang="zh-TW"/>
            </a:br>
            <a:r>
              <a:rPr lang="zh-TW"/>
              <a:t>	lt_idx, i, gt_idx = left, left, right</a:t>
            </a:r>
            <a:br>
              <a:rPr lang="zh-TW"/>
            </a:br>
            <a:r>
              <a:rPr lang="zh-TW"/>
              <a:t>	while i &lt;= right_idx:</a:t>
            </a:r>
            <a:br>
              <a:rPr lang="zh-TW"/>
            </a:br>
            <a:r>
              <a:rPr lang="zh-TW"/>
              <a:t>		if nums[i] &lt; pivot_value:</a:t>
            </a:r>
            <a:br>
              <a:rPr lang="zh-TW"/>
            </a:br>
            <a:r>
              <a:rPr lang="zh-TW"/>
              <a:t>			swap(i, lt_idx)</a:t>
            </a:r>
            <a:br>
              <a:rPr lang="zh-TW"/>
            </a:br>
            <a:r>
              <a:rPr lang="zh-TW"/>
              <a:t>			i, lt_idx = i+1, lt_idx + 1</a:t>
            </a:r>
            <a:br>
              <a:rPr lang="zh-TW"/>
            </a:br>
            <a:r>
              <a:rPr lang="zh-TW"/>
              <a:t>		elif nums[i] &gt; pivot_value:</a:t>
            </a:r>
            <a:br>
              <a:rPr lang="zh-TW"/>
            </a:br>
            <a:r>
              <a:rPr lang="zh-TW"/>
              <a:t>			swap(i, gt_idx)</a:t>
            </a:r>
            <a:br>
              <a:rPr lang="zh-TW"/>
            </a:br>
            <a:r>
              <a:rPr lang="zh-TW"/>
              <a:t>			gt_idx -= 1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i += 1	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swap(i, right)</a:t>
            </a:r>
            <a:br>
              <a:rPr lang="zh-TW"/>
            </a:br>
            <a:r>
              <a:rPr lang="zh-TW"/>
              <a:t>	return lt_idx, gt_idx</a:t>
            </a:r>
            <a:endParaRPr/>
          </a:p>
        </p:txBody>
      </p:sp>
      <p:sp>
        <p:nvSpPr>
          <p:cNvPr id="528" name="Google Shape;528;p76"/>
          <p:cNvSpPr txBox="1"/>
          <p:nvPr>
            <p:ph type="title"/>
          </p:nvPr>
        </p:nvSpPr>
        <p:spPr>
          <a:xfrm>
            <a:off x="819150" y="555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Three part (Duplicate value)</a:t>
            </a:r>
            <a:endParaRPr/>
          </a:p>
        </p:txBody>
      </p:sp>
      <p:sp>
        <p:nvSpPr>
          <p:cNvPr id="529" name="Google Shape;529;p76"/>
          <p:cNvSpPr txBox="1"/>
          <p:nvPr>
            <p:ph idx="2" type="body"/>
          </p:nvPr>
        </p:nvSpPr>
        <p:spPr>
          <a:xfrm>
            <a:off x="4494850" y="1303350"/>
            <a:ext cx="42975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Example, find k smallest value</a:t>
            </a:r>
            <a:br>
              <a:rPr lang="zh-TW"/>
            </a:br>
            <a:r>
              <a:rPr lang="zh-TW"/>
              <a:t>target = k - 1</a:t>
            </a:r>
            <a:br>
              <a:rPr lang="zh-TW"/>
            </a:br>
            <a:r>
              <a:rPr lang="zh-TW"/>
              <a:t>left, right = 0, len(nums) - 1</a:t>
            </a:r>
            <a:br>
              <a:rPr lang="zh-TW"/>
            </a:br>
            <a:r>
              <a:rPr lang="zh-TW"/>
              <a:t>while left &lt;= right:</a:t>
            </a:r>
            <a:br>
              <a:rPr lang="zh-TW"/>
            </a:br>
            <a:r>
              <a:rPr lang="zh-TW"/>
              <a:t>	lt_idx, gt_idx = partition(left, right)</a:t>
            </a:r>
            <a:br>
              <a:rPr lang="zh-TW"/>
            </a:br>
            <a:r>
              <a:rPr lang="zh-TW"/>
              <a:t>	if lt_idx &gt; </a:t>
            </a:r>
            <a:r>
              <a:rPr lang="zh-TW"/>
              <a:t>targe</a:t>
            </a:r>
            <a:r>
              <a:rPr lang="zh-TW"/>
              <a:t>t:</a:t>
            </a:r>
            <a:br>
              <a:rPr lang="zh-TW"/>
            </a:br>
            <a:r>
              <a:rPr lang="zh-TW"/>
              <a:t>		right = lt_idx - 1</a:t>
            </a:r>
            <a:br>
              <a:rPr lang="zh-TW"/>
            </a:br>
            <a:r>
              <a:rPr lang="zh-TW"/>
              <a:t>	elif gt_idx &lt; target:</a:t>
            </a:r>
            <a:br>
              <a:rPr lang="zh-TW"/>
            </a:br>
            <a:r>
              <a:rPr lang="zh-TW"/>
              <a:t>		left = gt_idx + 1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return nums[lt_idx]</a:t>
            </a:r>
            <a:br>
              <a:rPr lang="zh-TW"/>
            </a:br>
            <a:br>
              <a:rPr lang="zh-TW"/>
            </a:br>
            <a:r>
              <a:rPr lang="zh-TW"/>
              <a:t>Better performance for dealing with duplicate value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7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Backtracking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9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Linked List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Traverse / Delete</a:t>
            </a:r>
            <a:endParaRPr/>
          </a:p>
        </p:txBody>
      </p:sp>
      <p:sp>
        <p:nvSpPr>
          <p:cNvPr id="551" name="Google Shape;551;p80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traverse(head):</a:t>
            </a:r>
            <a:br>
              <a:rPr lang="zh-TW"/>
            </a:br>
            <a:r>
              <a:rPr lang="zh-TW"/>
              <a:t>	node = head</a:t>
            </a:r>
            <a:br>
              <a:rPr lang="zh-TW"/>
            </a:br>
            <a:r>
              <a:rPr lang="zh-TW"/>
              <a:t>	while node:</a:t>
            </a:r>
            <a:br>
              <a:rPr lang="zh-TW"/>
            </a:br>
            <a:r>
              <a:rPr lang="zh-TW"/>
              <a:t>		node = node.next</a:t>
            </a:r>
            <a:endParaRPr/>
          </a:p>
        </p:txBody>
      </p:sp>
      <p:sp>
        <p:nvSpPr>
          <p:cNvPr id="552" name="Google Shape;552;p80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delete_node(head, val):</a:t>
            </a:r>
            <a:br>
              <a:rPr lang="zh-TW"/>
            </a:br>
            <a:r>
              <a:rPr lang="zh-TW"/>
              <a:t>	dummy = ListNode(0, next=head)</a:t>
            </a:r>
            <a:br>
              <a:rPr lang="zh-TW"/>
            </a:br>
            <a:r>
              <a:rPr lang="zh-TW"/>
              <a:t>	node = head</a:t>
            </a:r>
            <a:br>
              <a:rPr lang="zh-TW"/>
            </a:br>
            <a:r>
              <a:rPr lang="zh-TW"/>
              <a:t>	prev = dummy</a:t>
            </a:r>
            <a:br>
              <a:rPr lang="zh-TW"/>
            </a:br>
            <a:r>
              <a:rPr lang="zh-TW"/>
              <a:t>	while node:</a:t>
            </a:r>
            <a:br>
              <a:rPr lang="zh-TW"/>
            </a:br>
            <a:r>
              <a:rPr lang="zh-TW"/>
              <a:t>		if node.val == val:</a:t>
            </a:r>
            <a:br>
              <a:rPr lang="zh-TW"/>
            </a:br>
            <a:r>
              <a:rPr lang="zh-TW"/>
              <a:t>			prev.next = node.next</a:t>
            </a:r>
            <a:br>
              <a:rPr lang="zh-TW"/>
            </a:br>
            <a:r>
              <a:rPr lang="zh-TW"/>
              <a:t>			node = node.next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prev, node = prev.next, node.next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return dummy.next</a:t>
            </a:r>
            <a:br>
              <a:rPr lang="zh-TW"/>
            </a:br>
            <a:r>
              <a:rPr lang="zh-TW"/>
              <a:t>	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Reverse</a:t>
            </a:r>
            <a:endParaRPr/>
          </a:p>
        </p:txBody>
      </p:sp>
      <p:sp>
        <p:nvSpPr>
          <p:cNvPr id="558" name="Google Shape;558;p81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def reverse(head):</a:t>
            </a:r>
            <a:br>
              <a:rPr lang="zh-TW"/>
            </a:br>
            <a:r>
              <a:rPr lang="zh-TW"/>
              <a:t>	prev = None</a:t>
            </a:r>
            <a:br>
              <a:rPr lang="zh-TW"/>
            </a:br>
            <a:r>
              <a:rPr lang="zh-TW"/>
              <a:t>	while head:</a:t>
            </a:r>
            <a:br>
              <a:rPr lang="zh-TW"/>
            </a:br>
            <a:r>
              <a:rPr lang="zh-TW"/>
              <a:t>		next_node = head.next</a:t>
            </a:r>
            <a:br>
              <a:rPr lang="zh-TW"/>
            </a:br>
            <a:r>
              <a:rPr lang="zh-TW"/>
              <a:t>		head.next = prev</a:t>
            </a:r>
            <a:br>
              <a:rPr lang="zh-TW"/>
            </a:br>
            <a:r>
              <a:rPr lang="zh-TW"/>
              <a:t>		prev = head</a:t>
            </a:r>
            <a:br>
              <a:rPr lang="zh-TW"/>
            </a:br>
            <a:r>
              <a:rPr lang="zh-TW"/>
              <a:t>		head = next_node</a:t>
            </a:r>
            <a:br>
              <a:rPr lang="zh-TW"/>
            </a:br>
            <a:r>
              <a:rPr lang="zh-TW"/>
              <a:t>	return head</a:t>
            </a:r>
            <a:br>
              <a:rPr lang="zh-TW"/>
            </a:br>
            <a:r>
              <a:rPr lang="zh-TW"/>
              <a:t>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81"/>
          <p:cNvSpPr txBox="1"/>
          <p:nvPr>
            <p:ph idx="2" type="body"/>
          </p:nvPr>
        </p:nvSpPr>
        <p:spPr>
          <a:xfrm>
            <a:off x="4638675" y="1354075"/>
            <a:ext cx="3686100" cy="32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very tricky, need to draw plot to understand</a:t>
            </a:r>
            <a:br>
              <a:rPr lang="zh-TW"/>
            </a:br>
            <a:r>
              <a:rPr lang="zh-TW"/>
              <a:t>def reverse_between(head, m, n):</a:t>
            </a:r>
            <a:br>
              <a:rPr lang="zh-TW"/>
            </a:br>
            <a:r>
              <a:rPr lang="zh-TW"/>
              <a:t>	dummy = ListNode(0, next=head)</a:t>
            </a:r>
            <a:br>
              <a:rPr lang="zh-TW"/>
            </a:br>
            <a:r>
              <a:rPr lang="zh-TW"/>
              <a:t>	prev = dummy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# find reversed start</a:t>
            </a:r>
            <a:br>
              <a:rPr lang="zh-TW"/>
            </a:br>
            <a:r>
              <a:rPr lang="zh-TW"/>
              <a:t>	for _ in range(m-1):</a:t>
            </a:r>
            <a:br>
              <a:rPr lang="zh-TW"/>
            </a:br>
            <a:r>
              <a:rPr lang="zh-TW"/>
              <a:t>		prev = prev.next</a:t>
            </a:r>
            <a:br>
              <a:rPr lang="zh-TW"/>
            </a:br>
            <a:br>
              <a:rPr lang="zh-TW"/>
            </a:br>
            <a:r>
              <a:rPr lang="zh-TW"/>
              <a:t>	curr = prev.next # curr is the start point</a:t>
            </a:r>
            <a:br>
              <a:rPr lang="zh-TW"/>
            </a:br>
            <a:r>
              <a:rPr lang="zh-TW"/>
              <a:t>	for _ in range(n - m):</a:t>
            </a:r>
            <a:br>
              <a:rPr lang="zh-TW"/>
            </a:br>
            <a:r>
              <a:rPr lang="zh-TW"/>
              <a:t>		next_node = curr.next</a:t>
            </a:r>
            <a:br>
              <a:rPr lang="zh-TW"/>
            </a:br>
            <a:r>
              <a:rPr lang="zh-TW"/>
              <a:t>		curr.next = next_node.next</a:t>
            </a:r>
            <a:br>
              <a:rPr lang="zh-TW"/>
            </a:br>
            <a:r>
              <a:rPr lang="zh-TW"/>
              <a:t>		next_node.next = prev.next</a:t>
            </a:r>
            <a:br>
              <a:rPr lang="zh-TW"/>
            </a:br>
            <a:r>
              <a:rPr lang="zh-TW"/>
              <a:t>		prev.next = next_node</a:t>
            </a:r>
            <a:br>
              <a:rPr lang="zh-TW"/>
            </a:br>
            <a:br>
              <a:rPr lang="zh-TW"/>
            </a:br>
            <a:r>
              <a:rPr lang="zh-TW"/>
              <a:t>	return dummy.next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Merge two sorted Link lists</a:t>
            </a:r>
            <a:endParaRPr/>
          </a:p>
        </p:txBody>
      </p:sp>
      <p:sp>
        <p:nvSpPr>
          <p:cNvPr id="565" name="Google Shape;565;p82"/>
          <p:cNvSpPr txBox="1"/>
          <p:nvPr>
            <p:ph idx="1" type="body"/>
          </p:nvPr>
        </p:nvSpPr>
        <p:spPr>
          <a:xfrm>
            <a:off x="819150" y="1455125"/>
            <a:ext cx="7505700" cy="32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merge(head1, head2):</a:t>
            </a:r>
            <a:br>
              <a:rPr lang="zh-TW"/>
            </a:br>
            <a:r>
              <a:rPr lang="zh-TW"/>
              <a:t>	</a:t>
            </a:r>
            <a:r>
              <a:rPr lang="zh-TW"/>
              <a:t>dummy</a:t>
            </a:r>
            <a:r>
              <a:rPr lang="zh-TW"/>
              <a:t> = ListNode()</a:t>
            </a:r>
            <a:br>
              <a:rPr lang="zh-TW"/>
            </a:br>
            <a:r>
              <a:rPr lang="zh-TW"/>
              <a:t>	node = dummy</a:t>
            </a:r>
            <a:br>
              <a:rPr lang="zh-TW"/>
            </a:br>
            <a:r>
              <a:rPr lang="zh-TW"/>
              <a:t>	while head1 and head2:</a:t>
            </a:r>
            <a:br>
              <a:rPr lang="zh-TW"/>
            </a:br>
            <a:r>
              <a:rPr lang="zh-TW"/>
              <a:t>		if head1.val &lt; head2.val:</a:t>
            </a:r>
            <a:br>
              <a:rPr lang="zh-TW"/>
            </a:br>
            <a:r>
              <a:rPr lang="zh-TW"/>
              <a:t>			node.next = head1</a:t>
            </a:r>
            <a:br>
              <a:rPr lang="zh-TW"/>
            </a:br>
            <a:r>
              <a:rPr lang="zh-TW"/>
              <a:t>			head1 = head1.next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node.next = head2</a:t>
            </a:r>
            <a:br>
              <a:rPr lang="zh-TW"/>
            </a:br>
            <a:r>
              <a:rPr lang="zh-TW"/>
              <a:t>			head2 = head2.next</a:t>
            </a:r>
            <a:br>
              <a:rPr lang="zh-TW"/>
            </a:br>
            <a:r>
              <a:rPr lang="zh-TW"/>
              <a:t>		node = node.next</a:t>
            </a:r>
            <a:br>
              <a:rPr lang="zh-TW"/>
            </a:br>
            <a:br>
              <a:rPr lang="zh-TW"/>
            </a:br>
            <a:r>
              <a:rPr lang="zh-TW"/>
              <a:t>	node.next = head1 if head1 else head2</a:t>
            </a:r>
            <a:br>
              <a:rPr lang="zh-TW"/>
            </a:br>
            <a:r>
              <a:rPr lang="zh-TW"/>
              <a:t>	return dummy.next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Slow and Fast</a:t>
            </a:r>
            <a:endParaRPr/>
          </a:p>
        </p:txBody>
      </p:sp>
      <p:sp>
        <p:nvSpPr>
          <p:cNvPr id="571" name="Google Shape;571;p83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O(N)</a:t>
            </a:r>
            <a:br>
              <a:rPr lang="zh-TW"/>
            </a:br>
            <a:r>
              <a:rPr lang="zh-TW"/>
              <a:t>def find_middle_node(head):</a:t>
            </a:r>
            <a:br>
              <a:rPr lang="zh-TW"/>
            </a:br>
            <a:r>
              <a:rPr lang="zh-TW"/>
              <a:t>	slow = fast = head</a:t>
            </a:r>
            <a:br>
              <a:rPr lang="zh-TW"/>
            </a:br>
            <a:r>
              <a:rPr lang="zh-TW"/>
              <a:t>	while fast and fast.next:</a:t>
            </a:r>
            <a:br>
              <a:rPr lang="zh-TW"/>
            </a:br>
            <a:r>
              <a:rPr lang="zh-TW"/>
              <a:t>		slow = slow.next</a:t>
            </a:r>
            <a:br>
              <a:rPr lang="zh-TW"/>
            </a:br>
            <a:r>
              <a:rPr lang="zh-TW"/>
              <a:t>		fast = fast.next.next</a:t>
            </a:r>
            <a:br>
              <a:rPr lang="zh-TW"/>
            </a:br>
            <a:r>
              <a:rPr lang="zh-TW"/>
              <a:t>	return slow</a:t>
            </a:r>
            <a:endParaRPr/>
          </a:p>
        </p:txBody>
      </p:sp>
      <p:sp>
        <p:nvSpPr>
          <p:cNvPr id="572" name="Google Shape;572;p83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find_k_node_from_back(head, k):</a:t>
            </a:r>
            <a:br>
              <a:rPr lang="zh-TW"/>
            </a:br>
            <a:r>
              <a:rPr lang="zh-TW"/>
              <a:t>	slow = fast = head</a:t>
            </a:r>
            <a:br>
              <a:rPr lang="zh-TW"/>
            </a:br>
            <a:r>
              <a:rPr lang="zh-TW"/>
              <a:t>	for _ in range(k):</a:t>
            </a:r>
            <a:br>
              <a:rPr lang="zh-TW"/>
            </a:br>
            <a:r>
              <a:rPr lang="zh-TW"/>
              <a:t>		if not fast:</a:t>
            </a:r>
            <a:br>
              <a:rPr lang="zh-TW"/>
            </a:br>
            <a:r>
              <a:rPr lang="zh-TW"/>
              <a:t>			return None</a:t>
            </a:r>
            <a:br>
              <a:rPr lang="zh-TW"/>
            </a:br>
            <a:r>
              <a:rPr lang="zh-TW"/>
              <a:t>		fast = fast.next</a:t>
            </a:r>
            <a:br>
              <a:rPr lang="zh-TW"/>
            </a:br>
            <a:br>
              <a:rPr lang="zh-TW"/>
            </a:br>
            <a:r>
              <a:rPr lang="zh-TW"/>
              <a:t>	while fast:</a:t>
            </a:r>
            <a:br>
              <a:rPr lang="zh-TW"/>
            </a:br>
            <a:r>
              <a:rPr lang="zh-TW"/>
              <a:t>		slow = slow.next</a:t>
            </a:r>
            <a:br>
              <a:rPr lang="zh-TW"/>
            </a:br>
            <a:r>
              <a:rPr lang="zh-TW"/>
              <a:t>		fast = fast.next</a:t>
            </a:r>
            <a:br>
              <a:rPr lang="zh-TW"/>
            </a:br>
            <a:br>
              <a:rPr lang="zh-TW"/>
            </a:br>
            <a:r>
              <a:rPr lang="zh-TW"/>
              <a:t>	return slow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Hare and Tortoise</a:t>
            </a:r>
            <a:endParaRPr/>
          </a:p>
        </p:txBody>
      </p:sp>
      <p:sp>
        <p:nvSpPr>
          <p:cNvPr id="578" name="Google Shape;578;p84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has_cycle(head):</a:t>
            </a:r>
            <a:br>
              <a:rPr lang="zh-TW"/>
            </a:br>
            <a:r>
              <a:rPr lang="zh-TW"/>
              <a:t>	slow = fast = head</a:t>
            </a:r>
            <a:br>
              <a:rPr lang="zh-TW"/>
            </a:br>
            <a:r>
              <a:rPr lang="zh-TW"/>
              <a:t>	while fast and fast.next:</a:t>
            </a:r>
            <a:br>
              <a:rPr lang="zh-TW"/>
            </a:br>
            <a:r>
              <a:rPr lang="zh-TW"/>
              <a:t>		slow = slow.next</a:t>
            </a:r>
            <a:br>
              <a:rPr lang="zh-TW"/>
            </a:br>
            <a:r>
              <a:rPr lang="zh-TW"/>
              <a:t>		fast = fast.next.next</a:t>
            </a:r>
            <a:br>
              <a:rPr lang="zh-TW"/>
            </a:br>
            <a:r>
              <a:rPr lang="zh-TW"/>
              <a:t>		if slow == fast:</a:t>
            </a:r>
            <a:br>
              <a:rPr lang="zh-TW"/>
            </a:br>
            <a:r>
              <a:rPr lang="zh-TW"/>
              <a:t>			return True</a:t>
            </a:r>
            <a:br>
              <a:rPr lang="zh-TW"/>
            </a:br>
            <a:r>
              <a:rPr lang="zh-TW"/>
              <a:t>	return False</a:t>
            </a:r>
            <a:endParaRPr/>
          </a:p>
        </p:txBody>
      </p:sp>
      <p:sp>
        <p:nvSpPr>
          <p:cNvPr id="579" name="Google Shape;579;p84"/>
          <p:cNvSpPr txBox="1"/>
          <p:nvPr>
            <p:ph idx="2" type="body"/>
          </p:nvPr>
        </p:nvSpPr>
        <p:spPr>
          <a:xfrm>
            <a:off x="4638675" y="845600"/>
            <a:ext cx="3686100" cy="3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Math problem</a:t>
            </a:r>
            <a:br>
              <a:rPr lang="zh-TW"/>
            </a:br>
            <a:r>
              <a:rPr lang="zh-TW"/>
              <a:t>def detectCycleStart(head):</a:t>
            </a:r>
            <a:br>
              <a:rPr lang="zh-TW"/>
            </a:br>
            <a:r>
              <a:rPr lang="zh-TW"/>
              <a:t>	slow = fast = head</a:t>
            </a:r>
            <a:br>
              <a:rPr lang="zh-TW"/>
            </a:br>
            <a:r>
              <a:rPr lang="zh-TW"/>
              <a:t>	while fast and fast.next:</a:t>
            </a:r>
            <a:br>
              <a:rPr lang="zh-TW"/>
            </a:br>
            <a:r>
              <a:rPr lang="zh-TW"/>
              <a:t>		slow = slow.next</a:t>
            </a:r>
            <a:br>
              <a:rPr lang="zh-TW"/>
            </a:br>
            <a:r>
              <a:rPr lang="zh-TW"/>
              <a:t>		fast = fast.next.next</a:t>
            </a:r>
            <a:br>
              <a:rPr lang="zh-TW"/>
            </a:br>
            <a:r>
              <a:rPr lang="zh-TW"/>
              <a:t>		if slow == fast:</a:t>
            </a:r>
            <a:br>
              <a:rPr lang="zh-TW"/>
            </a:br>
            <a:r>
              <a:rPr lang="zh-TW"/>
              <a:t>			break</a:t>
            </a:r>
            <a:br>
              <a:rPr lang="zh-TW"/>
            </a:br>
            <a:br>
              <a:rPr lang="zh-TW"/>
            </a:br>
            <a:r>
              <a:rPr lang="zh-TW"/>
              <a:t>	if slow != fast: # no cycle</a:t>
            </a:r>
            <a:br>
              <a:rPr lang="zh-TW"/>
            </a:br>
            <a:r>
              <a:rPr lang="zh-TW"/>
              <a:t>		return None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slow = head</a:t>
            </a:r>
            <a:br>
              <a:rPr lang="zh-TW"/>
            </a:br>
            <a:r>
              <a:rPr lang="zh-TW"/>
              <a:t>	while slow != fast:</a:t>
            </a:r>
            <a:br>
              <a:rPr lang="zh-TW"/>
            </a:br>
            <a:r>
              <a:rPr lang="zh-TW"/>
              <a:t>		slow = slow.next</a:t>
            </a:r>
            <a:br>
              <a:rPr lang="zh-TW"/>
            </a:br>
            <a:r>
              <a:rPr lang="zh-TW"/>
              <a:t>		fast = fast.next</a:t>
            </a:r>
            <a:br>
              <a:rPr lang="zh-TW"/>
            </a:br>
            <a:br>
              <a:rPr lang="zh-TW"/>
            </a:br>
            <a:r>
              <a:rPr lang="zh-TW"/>
              <a:t>	return slow</a:t>
            </a:r>
            <a:endParaRPr/>
          </a:p>
        </p:txBody>
      </p:sp>
      <p:sp>
        <p:nvSpPr>
          <p:cNvPr id="580" name="Google Shape;580;p84"/>
          <p:cNvSpPr txBox="1"/>
          <p:nvPr/>
        </p:nvSpPr>
        <p:spPr>
          <a:xfrm>
            <a:off x="4194450" y="4366250"/>
            <a:ext cx="4779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 meet: Slow = x + y, fast = x + y + kc = 2 (x+y) =&gt; x = kc - y</a:t>
            </a:r>
            <a:br>
              <a:rPr lang="zh-TW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1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fast go (kc - y) step will reach x, slow go x step from start will reach x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Palindrome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Palindrome</a:t>
            </a:r>
            <a:endParaRPr/>
          </a:p>
        </p:txBody>
      </p:sp>
      <p:sp>
        <p:nvSpPr>
          <p:cNvPr id="591" name="Google Shape;591;p86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is_palindrome(s) -&gt; bool:</a:t>
            </a:r>
            <a:br>
              <a:rPr lang="zh-TW"/>
            </a:br>
            <a:r>
              <a:rPr lang="zh-TW"/>
              <a:t>	left, right = 0, len(s) - 1</a:t>
            </a:r>
            <a:br>
              <a:rPr lang="zh-TW"/>
            </a:br>
            <a:r>
              <a:rPr lang="zh-TW"/>
              <a:t>	while left &lt; right:</a:t>
            </a:r>
            <a:br>
              <a:rPr lang="zh-TW"/>
            </a:br>
            <a:r>
              <a:rPr lang="zh-TW"/>
              <a:t>		if s[left] != s[right]:</a:t>
            </a:r>
            <a:br>
              <a:rPr lang="zh-TW"/>
            </a:br>
            <a:r>
              <a:rPr lang="zh-TW"/>
              <a:t>			return False</a:t>
            </a:r>
            <a:br>
              <a:rPr lang="zh-TW"/>
            </a:br>
            <a:r>
              <a:rPr lang="zh-TW"/>
              <a:t>		left += 1</a:t>
            </a:r>
            <a:br>
              <a:rPr lang="zh-TW"/>
            </a:br>
            <a:r>
              <a:rPr lang="zh-TW"/>
              <a:t>		right -= 1</a:t>
            </a:r>
            <a:br>
              <a:rPr lang="zh-TW"/>
            </a:br>
            <a:r>
              <a:rPr lang="zh-TW"/>
              <a:t>	return True</a:t>
            </a:r>
            <a:endParaRPr/>
          </a:p>
        </p:txBody>
      </p:sp>
      <p:sp>
        <p:nvSpPr>
          <p:cNvPr id="592" name="Google Shape;592;p86"/>
          <p:cNvSpPr txBox="1"/>
          <p:nvPr>
            <p:ph idx="2" type="body"/>
          </p:nvPr>
        </p:nvSpPr>
        <p:spPr>
          <a:xfrm>
            <a:off x="3392800" y="693050"/>
            <a:ext cx="5492700" cy="4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# TC = O(N^2), SC = O(1)</a:t>
            </a:r>
            <a:br>
              <a:rPr lang="zh-TW"/>
            </a:br>
            <a:r>
              <a:rPr lang="zh-TW"/>
              <a:t>def longest_substring_palindrome_len(s) -&gt; str:</a:t>
            </a:r>
            <a:br>
              <a:rPr lang="zh-TW"/>
            </a:br>
            <a:r>
              <a:rPr lang="zh-TW"/>
              <a:t>	def expand_from_center(left, right):   </a:t>
            </a:r>
            <a:r>
              <a:rPr lang="zh-TW">
                <a:solidFill>
                  <a:srgbClr val="FF0000"/>
                </a:solidFill>
              </a:rPr>
              <a:t># O(N) for one time</a:t>
            </a:r>
            <a:br>
              <a:rPr lang="zh-TW"/>
            </a:br>
            <a:r>
              <a:rPr lang="zh-TW"/>
              <a:t>		</a:t>
            </a:r>
            <a:r>
              <a:rPr lang="zh-TW"/>
              <a:t>while left &gt;= 0 and right &lt; len(s):</a:t>
            </a:r>
            <a:br>
              <a:rPr lang="zh-TW"/>
            </a:br>
            <a:r>
              <a:rPr lang="zh-TW"/>
              <a:t>			if s[left] != s[right]:</a:t>
            </a:r>
            <a:br>
              <a:rPr lang="zh-TW"/>
            </a:br>
            <a:r>
              <a:rPr lang="zh-TW"/>
              <a:t>				break</a:t>
            </a:r>
            <a:br>
              <a:rPr lang="zh-TW"/>
            </a:br>
            <a:r>
              <a:rPr lang="zh-TW"/>
              <a:t>			left, right = left-1, right+1</a:t>
            </a:r>
            <a:br>
              <a:rPr lang="zh-TW"/>
            </a:br>
            <a:r>
              <a:rPr lang="zh-TW"/>
              <a:t>		return left + 1, right - 1</a:t>
            </a:r>
            <a:br>
              <a:rPr lang="zh-TW"/>
            </a:br>
            <a:br>
              <a:rPr lang="zh-TW"/>
            </a:br>
            <a:r>
              <a:rPr lang="zh-TW"/>
              <a:t>	max_len = 0</a:t>
            </a:r>
            <a:br>
              <a:rPr lang="zh-TW"/>
            </a:br>
            <a:r>
              <a:rPr lang="zh-TW"/>
              <a:t>	for i in range(len(s)):	</a:t>
            </a:r>
            <a:br>
              <a:rPr lang="zh-TW"/>
            </a:br>
            <a:r>
              <a:rPr lang="zh-TW"/>
              <a:t>		left_odd, right_odd = expand_from_center(i, i)</a:t>
            </a:r>
            <a:br>
              <a:rPr lang="zh-TW"/>
            </a:br>
            <a:r>
              <a:rPr lang="zh-TW"/>
              <a:t>		max_len = max(max_len, right_odd - left_odd + 1)</a:t>
            </a:r>
            <a:br>
              <a:rPr lang="zh-TW"/>
            </a:br>
            <a:r>
              <a:rPr lang="zh-TW"/>
              <a:t>		if i + 1 &lt; len(s):</a:t>
            </a:r>
            <a:br>
              <a:rPr lang="zh-TW"/>
            </a:br>
            <a:r>
              <a:rPr lang="zh-TW"/>
              <a:t>			left_even, right_even = </a:t>
            </a:r>
            <a:r>
              <a:rPr lang="zh-TW"/>
              <a:t>expand_from_center(i, i+1)</a:t>
            </a:r>
            <a:br>
              <a:rPr lang="zh-TW"/>
            </a:br>
            <a:r>
              <a:rPr lang="zh-TW"/>
              <a:t>			max_len = max(max_len, right_even - left_even + 1)</a:t>
            </a:r>
            <a:br>
              <a:rPr lang="zh-TW"/>
            </a:br>
            <a:br>
              <a:rPr lang="zh-TW"/>
            </a:br>
            <a:r>
              <a:rPr lang="zh-TW"/>
              <a:t>	return max_len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Palindrome with k operations</a:t>
            </a:r>
            <a:endParaRPr/>
          </a:p>
        </p:txBody>
      </p:sp>
      <p:sp>
        <p:nvSpPr>
          <p:cNvPr id="598" name="Google Shape;598;p87"/>
          <p:cNvSpPr txBox="1"/>
          <p:nvPr>
            <p:ph idx="1" type="body"/>
          </p:nvPr>
        </p:nvSpPr>
        <p:spPr>
          <a:xfrm>
            <a:off x="819150" y="1592950"/>
            <a:ext cx="7505700" cy="30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longest_subsequence_palindrome_len(s) -&gt; str:</a:t>
            </a:r>
            <a:br>
              <a:rPr lang="zh-TW"/>
            </a:br>
            <a:r>
              <a:rPr lang="zh-TW"/>
              <a:t>	</a:t>
            </a:r>
            <a:r>
              <a:rPr lang="zh-TW">
                <a:solidFill>
                  <a:srgbClr val="FF0000"/>
                </a:solidFill>
              </a:rPr>
              <a:t># LCS with O(N^2) Time and O(N) Space</a:t>
            </a:r>
            <a:br>
              <a:rPr lang="zh-TW"/>
            </a:br>
            <a:r>
              <a:rPr lang="zh-TW"/>
              <a:t>	dp = [0 for i in range(len(s)+1)]</a:t>
            </a:r>
            <a:br>
              <a:rPr lang="zh-TW"/>
            </a:br>
            <a:r>
              <a:rPr lang="zh-TW"/>
              <a:t>	reversed_s = s[::-1]</a:t>
            </a:r>
            <a:br>
              <a:rPr lang="zh-TW"/>
            </a:br>
            <a:r>
              <a:rPr lang="zh-TW"/>
              <a:t>	for i in range(1, len(s)+1):</a:t>
            </a:r>
            <a:br>
              <a:rPr lang="zh-TW"/>
            </a:br>
            <a:r>
              <a:rPr lang="zh-TW"/>
              <a:t>		pre_dp = dp[:]</a:t>
            </a:r>
            <a:br>
              <a:rPr lang="zh-TW"/>
            </a:br>
            <a:r>
              <a:rPr lang="zh-TW"/>
              <a:t>		for j in range(1, len(s)+1):</a:t>
            </a:r>
            <a:br>
              <a:rPr lang="zh-TW"/>
            </a:br>
            <a:r>
              <a:rPr lang="zh-TW"/>
              <a:t>			if s[i-1] == reversed_s[j-1]:</a:t>
            </a:r>
            <a:br>
              <a:rPr lang="zh-TW"/>
            </a:br>
            <a:r>
              <a:rPr lang="zh-TW"/>
              <a:t>				dp[j] = pre_dp[j]</a:t>
            </a:r>
            <a:br>
              <a:rPr lang="zh-TW"/>
            </a:br>
            <a:r>
              <a:rPr lang="zh-TW"/>
              <a:t>			else:</a:t>
            </a:r>
            <a:br>
              <a:rPr lang="zh-TW"/>
            </a:br>
            <a:r>
              <a:rPr lang="zh-TW"/>
              <a:t>				dp[j] = max(dp[j-1], pre_dp[j])</a:t>
            </a:r>
            <a:br>
              <a:rPr lang="zh-TW"/>
            </a:br>
            <a:br>
              <a:rPr lang="zh-TW"/>
            </a:br>
            <a:r>
              <a:rPr lang="zh-TW"/>
              <a:t>	return dp[len(s)]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8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Prime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Prime number</a:t>
            </a:r>
            <a:endParaRPr/>
          </a:p>
        </p:txBody>
      </p:sp>
      <p:sp>
        <p:nvSpPr>
          <p:cNvPr id="609" name="Google Shape;609;p89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is_prime(n) -&gt; bool:</a:t>
            </a:r>
            <a:br>
              <a:rPr lang="zh-TW"/>
            </a:br>
            <a:r>
              <a:rPr lang="zh-TW"/>
              <a:t>	if n == 1:</a:t>
            </a:r>
            <a:br>
              <a:rPr lang="zh-TW"/>
            </a:br>
            <a:r>
              <a:rPr lang="zh-TW"/>
              <a:t>		return False</a:t>
            </a:r>
            <a:br>
              <a:rPr lang="zh-TW"/>
            </a:br>
            <a:r>
              <a:rPr lang="zh-TW"/>
              <a:t>	for i in range(2, int(n ** 0.5) + 1):</a:t>
            </a:r>
            <a:br>
              <a:rPr lang="zh-TW"/>
            </a:br>
            <a:r>
              <a:rPr lang="zh-TW"/>
              <a:t>		if n % i == 0:</a:t>
            </a:r>
            <a:br>
              <a:rPr lang="zh-TW"/>
            </a:br>
            <a:r>
              <a:rPr lang="zh-TW"/>
              <a:t>			return False</a:t>
            </a:r>
            <a:br>
              <a:rPr lang="zh-TW"/>
            </a:br>
            <a:r>
              <a:rPr lang="zh-TW"/>
              <a:t>	return True</a:t>
            </a:r>
            <a:endParaRPr/>
          </a:p>
        </p:txBody>
      </p:sp>
      <p:sp>
        <p:nvSpPr>
          <p:cNvPr id="610" name="Google Shape;610;p89"/>
          <p:cNvSpPr txBox="1"/>
          <p:nvPr>
            <p:ph idx="2" type="body"/>
          </p:nvPr>
        </p:nvSpPr>
        <p:spPr>
          <a:xfrm>
            <a:off x="4638675" y="1990725"/>
            <a:ext cx="4284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Sieve of Eratosthenes: find all primes within n</a:t>
            </a:r>
            <a:br>
              <a:rPr lang="zh-TW"/>
            </a:br>
            <a:r>
              <a:rPr lang="zh-TW"/>
              <a:t>def sieve(n) -&gt; List[int]:</a:t>
            </a:r>
            <a:br>
              <a:rPr lang="zh-TW"/>
            </a:br>
            <a:r>
              <a:rPr lang="zh-TW"/>
              <a:t>	is_prime = [True] * (n+1)</a:t>
            </a:r>
            <a:br>
              <a:rPr lang="zh-TW"/>
            </a:br>
            <a:r>
              <a:rPr lang="zh-TW"/>
              <a:t>	is_prime[0:2] = [False, False]</a:t>
            </a:r>
            <a:br>
              <a:rPr lang="zh-TW"/>
            </a:br>
            <a:r>
              <a:rPr lang="zh-TW"/>
              <a:t>	for i in range(2, int(n ** 0.5) + 1):</a:t>
            </a:r>
            <a:br>
              <a:rPr lang="zh-TW"/>
            </a:br>
            <a:r>
              <a:rPr lang="zh-TW"/>
              <a:t>		if is_prime[i]:</a:t>
            </a:r>
            <a:br>
              <a:rPr lang="zh-TW"/>
            </a:br>
            <a:r>
              <a:rPr lang="zh-TW"/>
              <a:t>			for j in range(i*i, n+1, i):</a:t>
            </a:r>
            <a:br>
              <a:rPr lang="zh-TW"/>
            </a:br>
            <a:r>
              <a:rPr lang="zh-TW"/>
              <a:t>				is_prime[i] = False</a:t>
            </a:r>
            <a:br>
              <a:rPr lang="zh-TW"/>
            </a:br>
            <a:r>
              <a:rPr lang="zh-TW"/>
              <a:t>	return [i for i, val in enumerate(is_prime) if val]</a:t>
            </a:r>
            <a:br>
              <a:rPr lang="zh-TW"/>
            </a:br>
            <a:r>
              <a:rPr lang="zh-TW"/>
              <a:t>	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Prime factors</a:t>
            </a:r>
            <a:endParaRPr/>
          </a:p>
        </p:txBody>
      </p:sp>
      <p:sp>
        <p:nvSpPr>
          <p:cNvPr id="616" name="Google Shape;616;p90"/>
          <p:cNvSpPr txBox="1"/>
          <p:nvPr>
            <p:ph idx="1" type="body"/>
          </p:nvPr>
        </p:nvSpPr>
        <p:spPr>
          <a:xfrm>
            <a:off x="819150" y="1546075"/>
            <a:ext cx="3686100" cy="28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O(sqrt(n))</a:t>
            </a:r>
            <a:br>
              <a:rPr lang="zh-TW"/>
            </a:br>
            <a:r>
              <a:rPr lang="zh-TW"/>
              <a:t>def prime_factors(n) -&gt; List[int]:</a:t>
            </a:r>
            <a:br>
              <a:rPr lang="zh-TW"/>
            </a:br>
            <a:r>
              <a:rPr lang="zh-TW"/>
              <a:t>	factors = []</a:t>
            </a:r>
            <a:br>
              <a:rPr lang="zh-TW"/>
            </a:br>
            <a:r>
              <a:rPr lang="zh-TW"/>
              <a:t>	i = 2</a:t>
            </a:r>
            <a:br>
              <a:rPr lang="zh-TW"/>
            </a:br>
            <a:r>
              <a:rPr lang="zh-TW"/>
              <a:t>	while i * i &lt;= n:</a:t>
            </a:r>
            <a:br>
              <a:rPr lang="zh-TW"/>
            </a:br>
            <a:r>
              <a:rPr lang="zh-TW"/>
              <a:t>		while n % i == 0:</a:t>
            </a:r>
            <a:br>
              <a:rPr lang="zh-TW"/>
            </a:br>
            <a:r>
              <a:rPr lang="zh-TW"/>
              <a:t>			factors.append(i)</a:t>
            </a:r>
            <a:br>
              <a:rPr lang="zh-TW"/>
            </a:br>
            <a:r>
              <a:rPr lang="zh-TW"/>
              <a:t>			n //= i</a:t>
            </a:r>
            <a:br>
              <a:rPr lang="zh-TW"/>
            </a:br>
            <a:r>
              <a:rPr lang="zh-TW"/>
              <a:t>		i += 1</a:t>
            </a:r>
            <a:br>
              <a:rPr lang="zh-TW"/>
            </a:br>
            <a:r>
              <a:rPr lang="zh-TW"/>
              <a:t>	if n &gt; 0:</a:t>
            </a:r>
            <a:br>
              <a:rPr lang="zh-TW"/>
            </a:br>
            <a:r>
              <a:rPr lang="zh-TW"/>
              <a:t>		factors.append(i)</a:t>
            </a:r>
            <a:br>
              <a:rPr lang="zh-TW"/>
            </a:br>
            <a:r>
              <a:rPr lang="zh-TW"/>
              <a:t>	return factors</a:t>
            </a:r>
            <a:endParaRPr/>
          </a:p>
        </p:txBody>
      </p:sp>
      <p:sp>
        <p:nvSpPr>
          <p:cNvPr id="617" name="Google Shape;617;p90"/>
          <p:cNvSpPr txBox="1"/>
          <p:nvPr>
            <p:ph idx="2" type="body"/>
          </p:nvPr>
        </p:nvSpPr>
        <p:spPr>
          <a:xfrm>
            <a:off x="4638675" y="1545825"/>
            <a:ext cx="3686100" cy="28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first_n_primes(n):</a:t>
            </a:r>
            <a:br>
              <a:rPr lang="zh-TW"/>
            </a:br>
            <a:r>
              <a:rPr lang="zh-TW"/>
              <a:t>	primes = []</a:t>
            </a:r>
            <a:br>
              <a:rPr lang="zh-TW"/>
            </a:br>
            <a:r>
              <a:rPr lang="zh-TW"/>
              <a:t>	i = 2</a:t>
            </a:r>
            <a:br>
              <a:rPr lang="zh-TW"/>
            </a:br>
            <a:r>
              <a:rPr lang="zh-TW"/>
              <a:t>	while len(primes) &lt; n:</a:t>
            </a:r>
            <a:br>
              <a:rPr lang="zh-TW"/>
            </a:br>
            <a:r>
              <a:rPr lang="zh-TW"/>
              <a:t>		if is_prime(i):</a:t>
            </a:r>
            <a:br>
              <a:rPr lang="zh-TW"/>
            </a:br>
            <a:r>
              <a:rPr lang="zh-TW"/>
              <a:t>			primes.append(i)</a:t>
            </a:r>
            <a:br>
              <a:rPr lang="zh-TW"/>
            </a:br>
            <a:r>
              <a:rPr lang="zh-TW"/>
              <a:t>		i += 1</a:t>
            </a:r>
            <a:br>
              <a:rPr lang="zh-TW"/>
            </a:br>
            <a:r>
              <a:rPr lang="zh-TW"/>
              <a:t>	return primes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1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GCD / LCM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GCD / LCM</a:t>
            </a:r>
            <a:endParaRPr/>
          </a:p>
        </p:txBody>
      </p:sp>
      <p:sp>
        <p:nvSpPr>
          <p:cNvPr id="628" name="Google Shape;628;p92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gcd(a, b) -&gt; int:</a:t>
            </a:r>
            <a:br>
              <a:rPr lang="zh-TW"/>
            </a:br>
            <a:r>
              <a:rPr lang="zh-TW"/>
              <a:t>	return a if b == 0 else gcd(b, a % b)</a:t>
            </a:r>
            <a:endParaRPr/>
          </a:p>
        </p:txBody>
      </p:sp>
      <p:sp>
        <p:nvSpPr>
          <p:cNvPr id="629" name="Google Shape;629;p92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lcm(a, b) -&gt; int:</a:t>
            </a:r>
            <a:br>
              <a:rPr lang="zh-TW"/>
            </a:br>
            <a:r>
              <a:rPr lang="zh-TW"/>
              <a:t>	return a * b / gcd(a, b)</a:t>
            </a:r>
            <a:endParaRPr/>
          </a:p>
        </p:txBody>
      </p:sp>
      <p:pic>
        <p:nvPicPr>
          <p:cNvPr id="630" name="Google Shape;63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513" y="2939925"/>
            <a:ext cx="3852974" cy="12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Permutation / Combination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4"/>
          <p:cNvSpPr txBox="1"/>
          <p:nvPr>
            <p:ph type="title"/>
          </p:nvPr>
        </p:nvSpPr>
        <p:spPr>
          <a:xfrm>
            <a:off x="192000" y="2122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Permutation</a:t>
            </a:r>
            <a:endParaRPr/>
          </a:p>
        </p:txBody>
      </p:sp>
      <p:sp>
        <p:nvSpPr>
          <p:cNvPr id="641" name="Google Shape;641;p94"/>
          <p:cNvSpPr txBox="1"/>
          <p:nvPr>
            <p:ph idx="1" type="body"/>
          </p:nvPr>
        </p:nvSpPr>
        <p:spPr>
          <a:xfrm>
            <a:off x="192000" y="1414725"/>
            <a:ext cx="3658200" cy="3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unique</a:t>
            </a:r>
            <a:br>
              <a:rPr lang="zh-TW"/>
            </a:br>
            <a:r>
              <a:rPr lang="zh-TW"/>
              <a:t>results = []</a:t>
            </a:r>
            <a:br>
              <a:rPr lang="zh-TW"/>
            </a:br>
            <a:r>
              <a:rPr lang="zh-TW"/>
              <a:t>visited = [False] * len(nums)</a:t>
            </a:r>
            <a:br>
              <a:rPr lang="zh-TW"/>
            </a:br>
            <a:r>
              <a:rPr lang="zh-TW"/>
              <a:t>def backtrack(path):</a:t>
            </a:r>
            <a:br>
              <a:rPr lang="zh-TW"/>
            </a:br>
            <a:r>
              <a:rPr lang="zh-TW"/>
              <a:t>	if len(path) == len(nums):</a:t>
            </a:r>
            <a:br>
              <a:rPr lang="zh-TW"/>
            </a:br>
            <a:r>
              <a:rPr lang="zh-TW"/>
              <a:t>		results.append(path[:])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for i in range(len(nums)):</a:t>
            </a:r>
            <a:br>
              <a:rPr lang="zh-TW"/>
            </a:br>
            <a:r>
              <a:rPr lang="zh-TW"/>
              <a:t>		if not visited[i]:</a:t>
            </a:r>
            <a:br>
              <a:rPr lang="zh-TW"/>
            </a:br>
            <a:r>
              <a:rPr lang="zh-TW"/>
              <a:t>			visited[i] = True</a:t>
            </a:r>
            <a:br>
              <a:rPr lang="zh-TW"/>
            </a:br>
            <a:r>
              <a:rPr lang="zh-TW"/>
              <a:t>			path.append(i)</a:t>
            </a:r>
            <a:br>
              <a:rPr lang="zh-TW"/>
            </a:br>
            <a:r>
              <a:rPr lang="zh-TW"/>
              <a:t>			backtrack(path)</a:t>
            </a:r>
            <a:br>
              <a:rPr lang="zh-TW"/>
            </a:br>
            <a:r>
              <a:rPr lang="zh-TW"/>
              <a:t>			path.pop()</a:t>
            </a:r>
            <a:br>
              <a:rPr lang="zh-TW"/>
            </a:br>
            <a:r>
              <a:rPr lang="zh-TW"/>
              <a:t>			visited[i] = False</a:t>
            </a:r>
            <a:br>
              <a:rPr lang="zh-TW"/>
            </a:br>
            <a:r>
              <a:rPr lang="zh-TW"/>
              <a:t>backtrack([])</a:t>
            </a:r>
            <a:br>
              <a:rPr lang="zh-TW"/>
            </a:br>
            <a:r>
              <a:rPr lang="zh-TW"/>
              <a:t>return results</a:t>
            </a:r>
            <a:endParaRPr/>
          </a:p>
        </p:txBody>
      </p:sp>
      <p:sp>
        <p:nvSpPr>
          <p:cNvPr id="642" name="Google Shape;642;p94"/>
          <p:cNvSpPr txBox="1"/>
          <p:nvPr>
            <p:ph idx="2" type="body"/>
          </p:nvPr>
        </p:nvSpPr>
        <p:spPr>
          <a:xfrm>
            <a:off x="3850050" y="212200"/>
            <a:ext cx="5082900" cy="47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duplicate</a:t>
            </a:r>
            <a:br>
              <a:rPr lang="zh-TW"/>
            </a:br>
            <a:r>
              <a:rPr lang="zh-TW">
                <a:solidFill>
                  <a:srgbClr val="FF0000"/>
                </a:solidFill>
              </a:rPr>
              <a:t>nums.sort()</a:t>
            </a:r>
            <a:br>
              <a:rPr lang="zh-TW"/>
            </a:br>
            <a:r>
              <a:rPr lang="zh-TW"/>
              <a:t>results = []</a:t>
            </a:r>
            <a:br>
              <a:rPr lang="zh-TW"/>
            </a:br>
            <a:r>
              <a:rPr lang="zh-TW"/>
              <a:t>visited = [False] * len(nums)</a:t>
            </a:r>
            <a:br>
              <a:rPr lang="zh-TW"/>
            </a:br>
            <a:r>
              <a:rPr lang="zh-TW"/>
              <a:t>def backtrack(path):</a:t>
            </a:r>
            <a:br>
              <a:rPr lang="zh-TW"/>
            </a:br>
            <a:r>
              <a:rPr lang="zh-TW"/>
              <a:t>	if len(path) == len(nums):</a:t>
            </a:r>
            <a:br>
              <a:rPr lang="zh-TW"/>
            </a:br>
            <a:r>
              <a:rPr lang="zh-TW"/>
              <a:t>		results.append(path[:])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for i in range(len(nums)):</a:t>
            </a:r>
            <a:br>
              <a:rPr lang="zh-TW"/>
            </a:br>
            <a:r>
              <a:rPr lang="zh-TW"/>
              <a:t>		if visited[i]:</a:t>
            </a:r>
            <a:br>
              <a:rPr lang="zh-TW"/>
            </a:br>
            <a:r>
              <a:rPr lang="zh-TW"/>
              <a:t>			continue</a:t>
            </a:r>
            <a:br>
              <a:rPr lang="zh-TW"/>
            </a:br>
            <a:r>
              <a:rPr lang="zh-TW"/>
              <a:t>		if i &gt; 0 and nums[i-1] == nums[i] and not visited[i-1]:</a:t>
            </a:r>
            <a:br>
              <a:rPr lang="zh-TW"/>
            </a:br>
            <a:r>
              <a:rPr lang="zh-TW"/>
              <a:t>			continue</a:t>
            </a:r>
            <a:br>
              <a:rPr lang="zh-TW"/>
            </a:br>
            <a:r>
              <a:rPr lang="zh-TW"/>
              <a:t>		visited[i] = True</a:t>
            </a:r>
            <a:br>
              <a:rPr lang="zh-TW"/>
            </a:br>
            <a:r>
              <a:rPr lang="zh-TW"/>
              <a:t>		path.append(i)</a:t>
            </a:r>
            <a:br>
              <a:rPr lang="zh-TW"/>
            </a:br>
            <a:r>
              <a:rPr lang="zh-TW"/>
              <a:t>		backtrack(path)</a:t>
            </a:r>
            <a:br>
              <a:rPr lang="zh-TW"/>
            </a:br>
            <a:r>
              <a:rPr lang="zh-TW"/>
              <a:t>		path.pop()</a:t>
            </a:r>
            <a:br>
              <a:rPr lang="zh-TW"/>
            </a:br>
            <a:r>
              <a:rPr lang="zh-TW"/>
              <a:t>		visited[i] = False</a:t>
            </a:r>
            <a:br>
              <a:rPr lang="zh-TW"/>
            </a:br>
            <a:r>
              <a:rPr lang="zh-TW"/>
              <a:t>backtrack([])</a:t>
            </a:r>
            <a:br>
              <a:rPr lang="zh-TW"/>
            </a:br>
            <a:r>
              <a:rPr lang="zh-TW"/>
              <a:t>return results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/>
          <p:nvPr>
            <p:ph type="title"/>
          </p:nvPr>
        </p:nvSpPr>
        <p:spPr>
          <a:xfrm>
            <a:off x="212850" y="208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Combination</a:t>
            </a:r>
            <a:endParaRPr/>
          </a:p>
        </p:txBody>
      </p:sp>
      <p:sp>
        <p:nvSpPr>
          <p:cNvPr id="648" name="Google Shape;648;p95"/>
          <p:cNvSpPr txBox="1"/>
          <p:nvPr>
            <p:ph idx="1" type="body"/>
          </p:nvPr>
        </p:nvSpPr>
        <p:spPr>
          <a:xfrm>
            <a:off x="262725" y="959975"/>
            <a:ext cx="42426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input is unique value</a:t>
            </a:r>
            <a:br>
              <a:rPr lang="zh-TW"/>
            </a:br>
            <a:r>
              <a:rPr lang="zh-TW"/>
              <a:t>def combine(n, k):</a:t>
            </a:r>
            <a:br>
              <a:rPr lang="zh-TW"/>
            </a:br>
            <a:r>
              <a:rPr lang="zh-TW"/>
              <a:t>	results = []</a:t>
            </a:r>
            <a:br>
              <a:rPr lang="zh-TW"/>
            </a:br>
            <a:r>
              <a:rPr lang="zh-TW"/>
              <a:t>	def backtrack(start, prefix):</a:t>
            </a:r>
            <a:br>
              <a:rPr lang="zh-TW"/>
            </a:br>
            <a:r>
              <a:rPr lang="zh-TW"/>
              <a:t>		if len(prefix) == k:</a:t>
            </a:r>
            <a:br>
              <a:rPr lang="zh-TW"/>
            </a:br>
            <a:r>
              <a:rPr lang="zh-TW"/>
              <a:t>			results.append(prefix[:])</a:t>
            </a:r>
            <a:br>
              <a:rPr lang="zh-TW"/>
            </a:br>
            <a:r>
              <a:rPr lang="zh-TW"/>
              <a:t>			return</a:t>
            </a:r>
            <a:br>
              <a:rPr lang="zh-TW"/>
            </a:br>
            <a:r>
              <a:rPr lang="zh-TW"/>
              <a:t>		for i in range(start, n+1):</a:t>
            </a:r>
            <a:br>
              <a:rPr lang="zh-TW"/>
            </a:br>
            <a:r>
              <a:rPr lang="zh-TW"/>
              <a:t>			prefix.append(i)</a:t>
            </a:r>
            <a:br>
              <a:rPr lang="zh-TW"/>
            </a:br>
            <a:r>
              <a:rPr lang="zh-TW"/>
              <a:t>			backtrack(start+1, prefix)</a:t>
            </a:r>
            <a:br>
              <a:rPr lang="zh-TW"/>
            </a:br>
            <a:r>
              <a:rPr lang="zh-TW"/>
              <a:t>			prefix.pop()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backtrack(1, [])</a:t>
            </a:r>
            <a:br>
              <a:rPr lang="zh-TW"/>
            </a:br>
            <a:r>
              <a:rPr lang="zh-TW"/>
              <a:t>	return results</a:t>
            </a:r>
            <a:br>
              <a:rPr lang="zh-TW"/>
            </a:br>
            <a:br>
              <a:rPr lang="zh-TW"/>
            </a:br>
            <a:r>
              <a:rPr lang="zh-TW"/>
              <a:t>combine(4, 2)</a:t>
            </a:r>
            <a:endParaRPr/>
          </a:p>
        </p:txBody>
      </p:sp>
      <p:sp>
        <p:nvSpPr>
          <p:cNvPr id="649" name="Google Shape;649;p95"/>
          <p:cNvSpPr txBox="1"/>
          <p:nvPr>
            <p:ph idx="2" type="body"/>
          </p:nvPr>
        </p:nvSpPr>
        <p:spPr>
          <a:xfrm>
            <a:off x="4638675" y="959975"/>
            <a:ext cx="36861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# </a:t>
            </a:r>
            <a:r>
              <a:rPr lang="zh-TW">
                <a:solidFill>
                  <a:srgbClr val="FF0000"/>
                </a:solidFill>
              </a:rPr>
              <a:t>input has duplicate</a:t>
            </a:r>
            <a:r>
              <a:rPr lang="zh-TW"/>
              <a:t> / output cannot duplicate</a:t>
            </a:r>
            <a:br>
              <a:rPr lang="zh-TW"/>
            </a:br>
            <a:r>
              <a:rPr lang="zh-TW"/>
              <a:t>def combine(nums, k):</a:t>
            </a:r>
            <a:br>
              <a:rPr lang="zh-TW"/>
            </a:br>
            <a:r>
              <a:rPr lang="zh-TW"/>
              <a:t>	results = []</a:t>
            </a:r>
            <a:br>
              <a:rPr lang="zh-TW"/>
            </a:br>
            <a:r>
              <a:rPr lang="zh-TW"/>
              <a:t>	nums.sort()</a:t>
            </a:r>
            <a:br>
              <a:rPr lang="zh-TW"/>
            </a:br>
            <a:r>
              <a:rPr lang="zh-TW"/>
              <a:t>	def backtrack(start, prefix):</a:t>
            </a:r>
            <a:br>
              <a:rPr lang="zh-TW"/>
            </a:br>
            <a:r>
              <a:rPr lang="zh-TW"/>
              <a:t>		if len(prefix) == k:</a:t>
            </a:r>
            <a:br>
              <a:rPr lang="zh-TW"/>
            </a:br>
            <a:r>
              <a:rPr lang="zh-TW"/>
              <a:t>			results.append(prefix[:])</a:t>
            </a:r>
            <a:br>
              <a:rPr lang="zh-TW"/>
            </a:br>
            <a:r>
              <a:rPr lang="zh-TW"/>
              <a:t>			return</a:t>
            </a:r>
            <a:br>
              <a:rPr lang="zh-TW"/>
            </a:br>
            <a:r>
              <a:rPr lang="zh-TW"/>
              <a:t>		for i in range(start, len(nums)):</a:t>
            </a:r>
            <a:br>
              <a:rPr lang="zh-TW"/>
            </a:br>
            <a:r>
              <a:rPr lang="zh-TW"/>
              <a:t>			</a:t>
            </a:r>
            <a:r>
              <a:rPr lang="zh-TW">
                <a:solidFill>
                  <a:srgbClr val="FF0000"/>
                </a:solidFill>
              </a:rPr>
              <a:t>if nums[i] == prefix[-1]: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				continue</a:t>
            </a:r>
            <a:br>
              <a:rPr lang="zh-TW">
                <a:solidFill>
                  <a:srgbClr val="FF0000"/>
                </a:solidFill>
              </a:rPr>
            </a:br>
            <a:r>
              <a:rPr lang="zh-TW"/>
              <a:t>			prefix.append(i)</a:t>
            </a:r>
            <a:br>
              <a:rPr lang="zh-TW"/>
            </a:br>
            <a:r>
              <a:rPr lang="zh-TW"/>
              <a:t>			backtrack(start+1, prefix)</a:t>
            </a:r>
            <a:br>
              <a:rPr lang="zh-TW"/>
            </a:br>
            <a:r>
              <a:rPr lang="zh-TW"/>
              <a:t>			prefix.pop()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backtrack(0, [])</a:t>
            </a:r>
            <a:br>
              <a:rPr lang="zh-TW"/>
            </a:br>
            <a:r>
              <a:rPr lang="zh-TW"/>
              <a:t>	return results</a:t>
            </a:r>
            <a:br>
              <a:rPr lang="zh-TW"/>
            </a:br>
            <a:r>
              <a:rPr lang="zh-TW"/>
              <a:t>combine([1, 1, 2, 4], 2) # [[1, 2], [1, 4], [2, 4]]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6"/>
          <p:cNvSpPr txBox="1"/>
          <p:nvPr>
            <p:ph type="title"/>
          </p:nvPr>
        </p:nvSpPr>
        <p:spPr>
          <a:xfrm>
            <a:off x="212850" y="2089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Combination</a:t>
            </a:r>
            <a:endParaRPr/>
          </a:p>
        </p:txBody>
      </p:sp>
      <p:sp>
        <p:nvSpPr>
          <p:cNvPr id="655" name="Google Shape;655;p96"/>
          <p:cNvSpPr txBox="1"/>
          <p:nvPr>
            <p:ph idx="1" type="body"/>
          </p:nvPr>
        </p:nvSpPr>
        <p:spPr>
          <a:xfrm>
            <a:off x="262725" y="959975"/>
            <a:ext cx="43092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# input has duplicate / </a:t>
            </a:r>
            <a:r>
              <a:rPr lang="zh-TW">
                <a:solidFill>
                  <a:srgbClr val="FF0000"/>
                </a:solidFill>
              </a:rPr>
              <a:t>output can have duplicate</a:t>
            </a:r>
            <a:br>
              <a:rPr lang="zh-TW"/>
            </a:br>
            <a:r>
              <a:rPr lang="zh-TW"/>
              <a:t>def combine(nums, k):</a:t>
            </a:r>
            <a:br>
              <a:rPr lang="zh-TW"/>
            </a:br>
            <a:r>
              <a:rPr lang="zh-TW"/>
              <a:t>	results = []</a:t>
            </a:r>
            <a:br>
              <a:rPr lang="zh-TW"/>
            </a:br>
            <a:r>
              <a:rPr lang="zh-TW"/>
              <a:t>	nums.sort()</a:t>
            </a:r>
            <a:br>
              <a:rPr lang="zh-TW"/>
            </a:br>
            <a:r>
              <a:rPr lang="zh-TW"/>
              <a:t>	def backtrack(start, prefix):</a:t>
            </a:r>
            <a:br>
              <a:rPr lang="zh-TW"/>
            </a:br>
            <a:r>
              <a:rPr lang="zh-TW"/>
              <a:t>		if len(prefix) == k:</a:t>
            </a:r>
            <a:br>
              <a:rPr lang="zh-TW"/>
            </a:br>
            <a:r>
              <a:rPr lang="zh-TW"/>
              <a:t>			results.append(prefix[:])</a:t>
            </a:r>
            <a:br>
              <a:rPr lang="zh-TW"/>
            </a:br>
            <a:r>
              <a:rPr lang="zh-TW"/>
              <a:t>			return</a:t>
            </a:r>
            <a:br>
              <a:rPr lang="zh-TW"/>
            </a:br>
            <a:r>
              <a:rPr lang="zh-TW"/>
              <a:t>		for i in range(start, len(nums)):</a:t>
            </a:r>
            <a:br>
              <a:rPr lang="zh-TW"/>
            </a:br>
            <a:r>
              <a:rPr lang="zh-TW"/>
              <a:t>			prefix.append(i)</a:t>
            </a:r>
            <a:br>
              <a:rPr lang="zh-TW"/>
            </a:br>
            <a:r>
              <a:rPr lang="zh-TW"/>
              <a:t>			backtrack(</a:t>
            </a:r>
            <a:r>
              <a:rPr lang="zh-TW">
                <a:solidFill>
                  <a:srgbClr val="FF0000"/>
                </a:solidFill>
              </a:rPr>
              <a:t>start</a:t>
            </a:r>
            <a:r>
              <a:rPr lang="zh-TW"/>
              <a:t>, prefix)</a:t>
            </a:r>
            <a:br>
              <a:rPr lang="zh-TW"/>
            </a:br>
            <a:r>
              <a:rPr lang="zh-TW"/>
              <a:t>			prefix.pop()</a:t>
            </a:r>
            <a:br>
              <a:rPr lang="zh-TW"/>
            </a:br>
            <a:r>
              <a:rPr lang="zh-TW"/>
              <a:t>		return</a:t>
            </a:r>
            <a:br>
              <a:rPr lang="zh-TW"/>
            </a:br>
            <a:r>
              <a:rPr lang="zh-TW"/>
              <a:t>	backtrack(0, [])</a:t>
            </a:r>
            <a:br>
              <a:rPr lang="zh-TW"/>
            </a:br>
            <a:r>
              <a:rPr lang="zh-TW"/>
              <a:t>	return results</a:t>
            </a:r>
            <a:br>
              <a:rPr lang="zh-TW"/>
            </a:br>
            <a:r>
              <a:rPr lang="zh-TW"/>
              <a:t>combine([1, 2, 4], 2) # [[1, 1], [1, 2], [1, 4], [2, 2], [2, 4], [4, 4]]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96"/>
          <p:cNvSpPr txBox="1"/>
          <p:nvPr>
            <p:ph idx="2" type="body"/>
          </p:nvPr>
        </p:nvSpPr>
        <p:spPr>
          <a:xfrm>
            <a:off x="4638675" y="959975"/>
            <a:ext cx="36861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7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Monotonic Stack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Monotonic Stack</a:t>
            </a:r>
            <a:endParaRPr/>
          </a:p>
        </p:txBody>
      </p:sp>
      <p:sp>
        <p:nvSpPr>
          <p:cNvPr id="667" name="Google Shape;667;p9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stack = []</a:t>
            </a:r>
            <a:br>
              <a:rPr lang="zh-TW"/>
            </a:br>
            <a:r>
              <a:rPr lang="zh-TW"/>
              <a:t>for num in nums:</a:t>
            </a:r>
            <a:br>
              <a:rPr lang="zh-TW"/>
            </a:br>
            <a:r>
              <a:rPr lang="zh-TW"/>
              <a:t>	while stack and stack[-1] &gt; num:</a:t>
            </a:r>
            <a:br>
              <a:rPr lang="zh-TW"/>
            </a:br>
            <a:r>
              <a:rPr lang="zh-TW"/>
              <a:t>		stack.pop()</a:t>
            </a:r>
            <a:br>
              <a:rPr lang="zh-TW"/>
            </a:br>
            <a:r>
              <a:rPr lang="zh-TW"/>
              <a:t>	stack.append(num)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9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Segment Tree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00"/>
          <p:cNvSpPr txBox="1"/>
          <p:nvPr>
            <p:ph idx="1" type="body"/>
          </p:nvPr>
        </p:nvSpPr>
        <p:spPr>
          <a:xfrm>
            <a:off x="192000" y="262725"/>
            <a:ext cx="4800000" cy="4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class SegmentTree:</a:t>
            </a:r>
            <a:br>
              <a:rPr lang="zh-TW"/>
            </a:br>
            <a:r>
              <a:rPr lang="zh-TW"/>
              <a:t>	def </a:t>
            </a:r>
            <a:r>
              <a:rPr lang="zh-TW"/>
              <a:t>__</a:t>
            </a:r>
            <a:r>
              <a:rPr lang="zh-TW"/>
              <a:t>init</a:t>
            </a:r>
            <a:r>
              <a:rPr lang="zh-TW"/>
              <a:t>__(self, data):</a:t>
            </a:r>
            <a:br>
              <a:rPr lang="zh-TW"/>
            </a:br>
            <a:r>
              <a:rPr lang="zh-TW"/>
              <a:t>		self.n = len(data)</a:t>
            </a:r>
            <a:br>
              <a:rPr lang="zh-TW"/>
            </a:br>
            <a:r>
              <a:rPr lang="zh-TW"/>
              <a:t>		self.tree = [0] * (4*self.n)</a:t>
            </a:r>
            <a:br>
              <a:rPr lang="zh-TW"/>
            </a:br>
            <a:r>
              <a:rPr lang="zh-TW"/>
              <a:t>		self._build(data, 1, 0, self.n-1)</a:t>
            </a:r>
            <a:br>
              <a:rPr lang="zh-TW"/>
            </a:br>
            <a:br>
              <a:rPr lang="zh-TW"/>
            </a:br>
            <a:r>
              <a:rPr lang="zh-TW"/>
              <a:t>	def _build(self, data, node, left, right):</a:t>
            </a:r>
            <a:br>
              <a:rPr lang="zh-TW"/>
            </a:br>
            <a:r>
              <a:rPr lang="zh-TW"/>
              <a:t>		if left == right:</a:t>
            </a:r>
            <a:br>
              <a:rPr lang="zh-TW"/>
            </a:br>
            <a:r>
              <a:rPr lang="zh-TW"/>
              <a:t>			self.tree[node] = data[left]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mid = left + (right - left) // 2</a:t>
            </a:r>
            <a:br>
              <a:rPr lang="zh-TW"/>
            </a:br>
            <a:r>
              <a:rPr lang="zh-TW"/>
              <a:t>			self._build(data, node*2, left, mid)</a:t>
            </a:r>
            <a:br>
              <a:rPr lang="zh-TW"/>
            </a:br>
            <a:r>
              <a:rPr lang="zh-TW"/>
              <a:t>			self._build(data, node*2+1, mid+1, right)</a:t>
            </a:r>
            <a:br>
              <a:rPr lang="zh-TW"/>
            </a:br>
            <a:r>
              <a:rPr lang="zh-TW"/>
              <a:t>			self.tree[node] = self.tree[node*2] + self.tree[node*2+1]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def query(self, left, right):</a:t>
            </a:r>
            <a:br>
              <a:rPr lang="zh-TW"/>
            </a:br>
            <a:r>
              <a:rPr lang="zh-TW"/>
              <a:t>		return self._query(1, 0, self.n-1, left, right)</a:t>
            </a:r>
            <a:br>
              <a:rPr lang="zh-TW"/>
            </a:br>
            <a:r>
              <a:rPr lang="zh-TW"/>
              <a:t>	</a:t>
            </a:r>
            <a:br>
              <a:rPr lang="zh-TW"/>
            </a:br>
            <a:r>
              <a:rPr lang="zh-TW"/>
              <a:t>	def _query(self, node, l, r, left, right):</a:t>
            </a:r>
            <a:br>
              <a:rPr lang="zh-TW"/>
            </a:br>
            <a:r>
              <a:rPr lang="zh-TW"/>
              <a:t>		if right &lt; l or left &gt; r:</a:t>
            </a:r>
            <a:br>
              <a:rPr lang="zh-TW"/>
            </a:br>
            <a:r>
              <a:rPr lang="zh-TW"/>
              <a:t>			return 0</a:t>
            </a:r>
            <a:br>
              <a:rPr lang="zh-TW"/>
            </a:br>
            <a:r>
              <a:rPr lang="zh-TW"/>
              <a:t>		if left &lt;= l and r &lt;= right:</a:t>
            </a:r>
            <a:br>
              <a:rPr lang="zh-TW"/>
            </a:br>
            <a:r>
              <a:rPr lang="zh-TW"/>
              <a:t>			return self.tree[node]</a:t>
            </a:r>
            <a:br>
              <a:rPr lang="zh-TW"/>
            </a:br>
            <a:r>
              <a:rPr lang="zh-TW"/>
              <a:t>		</a:t>
            </a:r>
            <a:br>
              <a:rPr lang="zh-TW"/>
            </a:br>
            <a:r>
              <a:rPr lang="zh-TW"/>
              <a:t>		mid = (l + r) // 2</a:t>
            </a:r>
            <a:br>
              <a:rPr lang="zh-TW"/>
            </a:br>
            <a:r>
              <a:rPr lang="zh-TW"/>
              <a:t>		return (self._query(node*2, l, mid, left, right) + </a:t>
            </a:r>
            <a:br>
              <a:rPr lang="zh-TW"/>
            </a:br>
            <a:r>
              <a:rPr lang="zh-TW"/>
              <a:t>		              self._query(node*2 + 1, mid+1, r, left, right))</a:t>
            </a:r>
            <a:br>
              <a:rPr lang="zh-TW"/>
            </a:br>
            <a:r>
              <a:rPr lang="zh-TW"/>
              <a:t>			</a:t>
            </a:r>
            <a:endParaRPr/>
          </a:p>
        </p:txBody>
      </p:sp>
      <p:pic>
        <p:nvPicPr>
          <p:cNvPr id="678" name="Google Shape;678;p100"/>
          <p:cNvPicPr preferRelativeResize="0"/>
          <p:nvPr/>
        </p:nvPicPr>
        <p:blipFill rotWithShape="1">
          <a:blip r:embed="rId3">
            <a:alphaModFix/>
          </a:blip>
          <a:srcRect b="19120" l="0" r="0" t="0"/>
          <a:stretch/>
        </p:blipFill>
        <p:spPr>
          <a:xfrm>
            <a:off x="4911150" y="2971025"/>
            <a:ext cx="3546900" cy="2114574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00"/>
          <p:cNvSpPr txBox="1"/>
          <p:nvPr>
            <p:ph idx="1" type="body"/>
          </p:nvPr>
        </p:nvSpPr>
        <p:spPr>
          <a:xfrm>
            <a:off x="4693275" y="176825"/>
            <a:ext cx="4341000" cy="27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def update(self, idx, value):</a:t>
            </a:r>
            <a:br>
              <a:rPr lang="zh-TW"/>
            </a:br>
            <a:r>
              <a:rPr lang="zh-TW"/>
              <a:t>	self._update(1, 0, self.n-1, idx, value)</a:t>
            </a:r>
            <a:br>
              <a:rPr lang="zh-TW"/>
            </a:br>
            <a:br>
              <a:rPr lang="zh-TW"/>
            </a:br>
            <a:r>
              <a:rPr lang="zh-TW"/>
              <a:t>def </a:t>
            </a:r>
            <a:r>
              <a:rPr lang="zh-TW"/>
              <a:t>_</a:t>
            </a:r>
            <a:r>
              <a:rPr lang="zh-TW"/>
              <a:t>update(self, node, l, r, idx, value):</a:t>
            </a:r>
            <a:br>
              <a:rPr lang="zh-TW"/>
            </a:br>
            <a:r>
              <a:rPr lang="zh-TW"/>
              <a:t>	if l == r:</a:t>
            </a:r>
            <a:br>
              <a:rPr lang="zh-TW"/>
            </a:br>
            <a:r>
              <a:rPr lang="zh-TW"/>
              <a:t>		self.tree[node] = value</a:t>
            </a:r>
            <a:br>
              <a:rPr lang="zh-TW"/>
            </a:br>
            <a:r>
              <a:rPr lang="zh-TW"/>
              <a:t>	else:</a:t>
            </a:r>
            <a:br>
              <a:rPr lang="zh-TW"/>
            </a:br>
            <a:r>
              <a:rPr lang="zh-TW"/>
              <a:t>		mid = (l + r) // 2</a:t>
            </a:r>
            <a:br>
              <a:rPr lang="zh-TW"/>
            </a:br>
            <a:r>
              <a:rPr lang="zh-TW"/>
              <a:t>		if idx &lt;= mid:</a:t>
            </a:r>
            <a:br>
              <a:rPr lang="zh-TW"/>
            </a:br>
            <a:r>
              <a:rPr lang="zh-TW"/>
              <a:t>			self.</a:t>
            </a:r>
            <a:r>
              <a:rPr lang="zh-TW"/>
              <a:t>_update(node*2, l, mid, idx, value)</a:t>
            </a:r>
            <a:br>
              <a:rPr lang="zh-TW"/>
            </a:br>
            <a:r>
              <a:rPr lang="zh-TW"/>
              <a:t>		else:</a:t>
            </a:r>
            <a:br>
              <a:rPr lang="zh-TW"/>
            </a:br>
            <a:r>
              <a:rPr lang="zh-TW"/>
              <a:t>			self._update(node*2+1, mid+1, r, idx, value)</a:t>
            </a:r>
            <a:br>
              <a:rPr lang="zh-TW"/>
            </a:br>
            <a:r>
              <a:rPr lang="zh-TW"/>
              <a:t>		self.tree[node] = self.tree[node*2] + self.tree[node*2+1]</a:t>
            </a:r>
            <a:br>
              <a:rPr lang="zh-TW"/>
            </a:br>
            <a:r>
              <a:rPr lang="zh-TW"/>
              <a:t>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